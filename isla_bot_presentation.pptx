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08476" y="822960"/>
            <a:ext cx="4572000" cy="1005840"/>
          </a:xfrm>
          <a:prstGeom prst="rect">
            <a:avLst/>
          </a:prstGeom>
          <a:solidFill>
            <a:srgbClr val="1A5C3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08476" y="82296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0D1117"/>
                </a:solidFill>
                <a:latin typeface="Segoe UI"/>
              </a:rPr>
              <a:t>ISLA 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58A6FF"/>
                </a:solidFill>
                <a:latin typeface="Segoe UI"/>
              </a:rPr>
              <a:t>Trading Algorítmico com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95728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  <a:latin typeface="Segoe UI"/>
              </a:rPr>
              <a:t>BTC/USD · Paper Trading · Alpaca API · Random Forest · Sentimento LLM</a:t>
            </a:r>
          </a:p>
        </p:txBody>
      </p:sp>
      <p:sp>
        <p:nvSpPr>
          <p:cNvPr id="6" name="Rectangle 5"/>
          <p:cNvSpPr/>
          <p:nvPr/>
        </p:nvSpPr>
        <p:spPr>
          <a:xfrm>
            <a:off x="3351276" y="2834640"/>
            <a:ext cx="5486400" cy="12344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51276" y="29077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B949E"/>
                </a:solidFill>
                <a:latin typeface="Segoe UI"/>
              </a:rPr>
              <a:t>GRUPO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1276" y="3154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6EDF3"/>
                </a:solidFill>
                <a:latin typeface="Segoe UI"/>
              </a:rPr>
              <a:t>Raphael Malburg   ·   André Neves   ·   Vasco   ·   Beatriz Ferreira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  <a:latin typeface="Segoe UI"/>
              </a:rPr>
              <a:t>Engenharia de Software e IA · Março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2628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5C64"/>
                </a:solidFill>
                <a:latin typeface="Segoe UI"/>
              </a:rPr>
              <a:t>⚠  Projeto académico · Não é recomendação de investimento · Paper trading apenas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EDF3"/>
                </a:solidFill>
                <a:latin typeface="Segoe UI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58368"/>
            <a:ext cx="11521440" cy="38100"/>
          </a:xfrm>
          <a:prstGeom prst="rect">
            <a:avLst/>
          </a:prstGeom>
          <a:solidFill>
            <a:srgbClr val="3FB95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841248"/>
            <a:ext cx="5577840" cy="402336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" y="896112"/>
            <a:ext cx="320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23544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  <a:latin typeface="Segoe UI"/>
              </a:rPr>
              <a:t>Motivação e Problema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841248"/>
            <a:ext cx="5577840" cy="402336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44768" y="896112"/>
            <a:ext cx="320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923544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  <a:latin typeface="Segoe UI"/>
              </a:rPr>
              <a:t>Solução — O que é o ISLA Bot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335024"/>
            <a:ext cx="5577840" cy="402336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1389888"/>
            <a:ext cx="320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417320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  <a:latin typeface="Segoe UI"/>
              </a:rPr>
              <a:t>Arquitetura do Sistema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335024"/>
            <a:ext cx="5577840" cy="402336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4768" y="1389888"/>
            <a:ext cx="320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  <a:latin typeface="Segoe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417320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  <a:latin typeface="Segoe UI"/>
              </a:rPr>
              <a:t>Pipeline de Decisão (8 passos)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828800"/>
            <a:ext cx="5577840" cy="402336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" y="1883664"/>
            <a:ext cx="320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  <a:latin typeface="Segoe U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1911096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  <a:latin typeface="Segoe UI"/>
              </a:rPr>
              <a:t>Modelo de Machine Learning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1828800"/>
            <a:ext cx="5577840" cy="402336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44768" y="1883664"/>
            <a:ext cx="320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  <a:latin typeface="Segoe U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1911096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  <a:latin typeface="Segoe UI"/>
              </a:rPr>
              <a:t>Métricas do Modelo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322576"/>
            <a:ext cx="5577840" cy="402336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2377440"/>
            <a:ext cx="320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  <a:latin typeface="Segoe UI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2404872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  <a:latin typeface="Segoe UI"/>
              </a:rPr>
              <a:t>Gestão de Risco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2322576"/>
            <a:ext cx="5577840" cy="402336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44768" y="2377440"/>
            <a:ext cx="320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  <a:latin typeface="Segoe UI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404872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  <a:latin typeface="Segoe UI"/>
              </a:rPr>
              <a:t>Dashboard Web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816352"/>
            <a:ext cx="5577840" cy="402336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" y="2871216"/>
            <a:ext cx="320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  <a:latin typeface="Segoe UI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2898648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  <a:latin typeface="Segoe UI"/>
              </a:rPr>
              <a:t>Resultados — Backtest 6 Meses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2816352"/>
            <a:ext cx="5577840" cy="402336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44768" y="2871216"/>
            <a:ext cx="320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  <a:latin typeface="Segoe UI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2898648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  <a:latin typeface="Segoe UI"/>
              </a:rPr>
              <a:t>Kelly vs Fixed 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3310128"/>
            <a:ext cx="5577840" cy="402336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9768" y="3364992"/>
            <a:ext cx="320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  <a:latin typeface="Segoe UI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3392424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  <a:latin typeface="Segoe UI"/>
              </a:rPr>
              <a:t>Conclusões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3310128"/>
            <a:ext cx="5577840" cy="402336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44768" y="3364992"/>
            <a:ext cx="320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  <a:latin typeface="Segoe UI"/>
              </a:rP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3392424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  <a:latin typeface="Segoe UI"/>
              </a:rPr>
              <a:t>Metodologia &amp; Equipa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803904"/>
            <a:ext cx="5577840" cy="402336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9768" y="3858768"/>
            <a:ext cx="320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  <a:latin typeface="Segoe UI"/>
              </a:rPr>
              <a:t>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3886200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  <a:latin typeface="Segoe UI"/>
              </a:rPr>
              <a:t>Próximos Passos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3803904"/>
            <a:ext cx="5577840" cy="402336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44768" y="3858768"/>
            <a:ext cx="320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  <a:latin typeface="Segoe UI"/>
              </a:rPr>
              <a:t>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3886200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  <a:latin typeface="Segoe UI"/>
              </a:rPr>
              <a:t>Referências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8182E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6473952"/>
            <a:ext cx="12188952" cy="19050"/>
          </a:xfrm>
          <a:prstGeom prst="rect">
            <a:avLst/>
          </a:prstGeom>
          <a:solidFill>
            <a:srgbClr val="58A6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653796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  <a:latin typeface="Segoe UI"/>
              </a:rPr>
              <a:t>💡  O bot resolve um problema real: mercados cripto operam 24/7, humanos não conseguem.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EDF3"/>
                </a:solidFill>
                <a:latin typeface="Segoe UI"/>
              </a:rPr>
              <a:t>Motivação e Problema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58368"/>
            <a:ext cx="11521440" cy="38100"/>
          </a:xfrm>
          <a:prstGeom prst="rect">
            <a:avLst/>
          </a:prstGeom>
          <a:solidFill>
            <a:srgbClr val="3FB95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2356" y="868680"/>
            <a:ext cx="3566160" cy="19202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2356" y="105156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85149"/>
                </a:solidFill>
                <a:latin typeface="Segoe UI"/>
              </a:rPr>
              <a:t>24/7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9516" y="18745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  <a:latin typeface="Segoe UI"/>
              </a:rPr>
              <a:t>Mercados cripto nunca fecham —
monitorização humana contínua é impossível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4311396" y="868680"/>
            <a:ext cx="3566160" cy="19202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11396" y="105156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D2A520"/>
                </a:solidFill>
                <a:latin typeface="Segoe UI"/>
              </a:rPr>
              <a:t>≈70%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8556" y="18745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  <a:latin typeface="Segoe UI"/>
              </a:rPr>
              <a:t>dos traders individuais perdem dinheiro
por decisões emocionais e inconsistentes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0436" y="868680"/>
            <a:ext cx="3566160" cy="19202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60436" y="105156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3FB950"/>
                </a:solidFill>
                <a:latin typeface="Segoe UI"/>
              </a:rPr>
              <a:t>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7596" y="18745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  <a:latin typeface="Segoe UI"/>
              </a:rPr>
              <a:t>Dados históricos ricos permitem modelar
padrões e aplicar regras sem emoção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944368"/>
            <a:ext cx="11521440" cy="777240"/>
          </a:xfrm>
          <a:prstGeom prst="rect">
            <a:avLst/>
          </a:prstGeom>
          <a:solidFill>
            <a:srgbClr val="08182E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944368"/>
            <a:ext cx="50800" cy="777240"/>
          </a:xfrm>
          <a:prstGeom prst="rect">
            <a:avLst/>
          </a:prstGeom>
          <a:solidFill>
            <a:srgbClr val="58A6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" y="3017520"/>
            <a:ext cx="11356848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Pergunta de investigação: É possível construir um sistema algorítmico que identifique oportunidades em BTC/USD e supere Buy &amp; Hold usando indicadores técnicos e ML, com gestão de risco automática?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A251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473952"/>
            <a:ext cx="12188952" cy="19050"/>
          </a:xfrm>
          <a:prstGeom prst="rect">
            <a:avLst/>
          </a:prstGeom>
          <a:solidFill>
            <a:srgbClr val="3FB95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653796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FB950"/>
                </a:solidFill>
                <a:latin typeface="Segoe UI"/>
              </a:rPr>
              <a:t>💡  A vantagem do bot não é ser mais inteligente — é ser consistente e disciplinado.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EDF3"/>
                </a:solidFill>
                <a:latin typeface="Segoe UI"/>
              </a:rPr>
              <a:t>A Solução — ISLA Bot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58368"/>
            <a:ext cx="11521440" cy="38100"/>
          </a:xfrm>
          <a:prstGeom prst="rect">
            <a:avLst/>
          </a:prstGeom>
          <a:solidFill>
            <a:srgbClr val="3FB95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841248"/>
            <a:ext cx="6035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E6EDF3"/>
                </a:solidFill>
                <a:latin typeface="Segoe UI"/>
              </a:rPr>
              <a:t>▸  Bot de trading algorítmico para BTC/USD em paper trading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E6EDF3"/>
                </a:solidFill>
                <a:latin typeface="Segoe UI"/>
              </a:rPr>
              <a:t>▸  Analisa candles de 1 hora com 17 indicadores técnicos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E6EDF3"/>
                </a:solidFill>
                <a:latin typeface="Segoe UI"/>
              </a:rPr>
              <a:t>▸  Random Forest prevê se o TP será atingido antes do SL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E6EDF3"/>
                </a:solidFill>
                <a:latin typeface="Segoe UI"/>
              </a:rPr>
              <a:t>▸  Gate de sentimento (Gemini Flash) bloqueia entradas em mercado muito bearish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E6EDF3"/>
                </a:solidFill>
                <a:latin typeface="Segoe UI"/>
              </a:rPr>
              <a:t>▸  Gestão de risco automática: SL/TP baseados em ATR, circuit breaker, exit watchdog a cada 10s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E6EDF3"/>
                </a:solidFill>
                <a:latin typeface="Segoe UI"/>
              </a:rPr>
              <a:t>▸  Dashboard web em tempo real com gráficos interativos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841248"/>
            <a:ext cx="5303520" cy="9144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905256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B949E"/>
                </a:solidFill>
                <a:latin typeface="Segoe UI"/>
              </a:rPr>
              <a:t>Exchange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097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EDF3"/>
                </a:solidFill>
                <a:latin typeface="Segoe UI"/>
              </a:rPr>
              <a:t>Alpaca Markets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59105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  <a:latin typeface="Segoe UI"/>
              </a:rPr>
              <a:t>Paper trading, sem risco real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1847088"/>
            <a:ext cx="5303520" cy="10972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901952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B949E"/>
                </a:solidFill>
                <a:latin typeface="Segoe UI"/>
              </a:rPr>
              <a:t>Stack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2121408"/>
            <a:ext cx="822960" cy="201168"/>
          </a:xfrm>
          <a:prstGeom prst="rect">
            <a:avLst/>
          </a:prstGeom>
          <a:solidFill>
            <a:srgbClr val="202834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121408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8A6FF"/>
                </a:solidFill>
                <a:latin typeface="Segoe UI"/>
              </a:rPr>
              <a:t>Python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71232" y="2121408"/>
            <a:ext cx="822960" cy="201168"/>
          </a:xfrm>
          <a:prstGeom prst="rect">
            <a:avLst/>
          </a:prstGeom>
          <a:solidFill>
            <a:srgbClr val="202834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16952" y="2121408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6EDF3"/>
                </a:solidFill>
                <a:latin typeface="Segoe UI"/>
              </a:rPr>
              <a:t>Flask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67344" y="2121408"/>
            <a:ext cx="822960" cy="201168"/>
          </a:xfrm>
          <a:prstGeom prst="rect">
            <a:avLst/>
          </a:prstGeom>
          <a:solidFill>
            <a:srgbClr val="202834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13064" y="2121408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8A6FF"/>
                </a:solidFill>
                <a:latin typeface="Segoe UI"/>
              </a:rPr>
              <a:t>Scikit-learn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63456" y="2121408"/>
            <a:ext cx="822960" cy="201168"/>
          </a:xfrm>
          <a:prstGeom prst="rect">
            <a:avLst/>
          </a:prstGeom>
          <a:solidFill>
            <a:srgbClr val="202834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9176" y="2121408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6EDF3"/>
                </a:solidFill>
                <a:latin typeface="Segoe UI"/>
              </a:rPr>
              <a:t>SQLite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59568" y="2121408"/>
            <a:ext cx="822960" cy="201168"/>
          </a:xfrm>
          <a:prstGeom prst="rect">
            <a:avLst/>
          </a:prstGeom>
          <a:solidFill>
            <a:srgbClr val="202834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05288" y="2121408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6EDF3"/>
                </a:solidFill>
                <a:latin typeface="Segoe UI"/>
              </a:rPr>
              <a:t>Plotly.js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155680" y="2121408"/>
            <a:ext cx="822960" cy="201168"/>
          </a:xfrm>
          <a:prstGeom prst="rect">
            <a:avLst/>
          </a:prstGeom>
          <a:solidFill>
            <a:srgbClr val="202834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201400" y="2121408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2A520"/>
                </a:solidFill>
                <a:latin typeface="Segoe UI"/>
              </a:rPr>
              <a:t>Gemini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3035808"/>
            <a:ext cx="5303520" cy="6858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3099816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B949E"/>
                </a:solidFill>
                <a:latin typeface="Segoe UI"/>
              </a:rPr>
              <a:t>Timeframe · Ativo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2918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EDF3"/>
                </a:solidFill>
                <a:latin typeface="Segoe UI"/>
              </a:rPr>
              <a:t>1H candles · BTC/USD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8182E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473952"/>
            <a:ext cx="12188952" cy="19050"/>
          </a:xfrm>
          <a:prstGeom prst="rect">
            <a:avLst/>
          </a:prstGeom>
          <a:solidFill>
            <a:srgbClr val="58A6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3796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  <a:latin typeface="Segoe UI"/>
              </a:rPr>
              <a:t>💡  Pipeline end-to-end: dados de mercado → ML → sentimento → risco → ordem na exchange.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EDF3"/>
                </a:solidFill>
                <a:latin typeface="Segoe UI"/>
              </a:rPr>
              <a:t>Arquitetura do Sistema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58368"/>
            <a:ext cx="11521440" cy="38100"/>
          </a:xfrm>
          <a:prstGeom prst="rect">
            <a:avLst/>
          </a:prstGeom>
          <a:solidFill>
            <a:srgbClr val="3FB95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868680"/>
            <a:ext cx="5669280" cy="594360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32688"/>
            <a:ext cx="5532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8A6FF"/>
                </a:solidFill>
                <a:latin typeface="Segoe UI"/>
              </a:rPr>
              <a:t>Alpaca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70432"/>
            <a:ext cx="5532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Segoe UI"/>
              </a:rPr>
              <a:t>Candles 1H · Ordens · Conta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868680"/>
            <a:ext cx="5669280" cy="594360"/>
          </a:xfrm>
          <a:prstGeom prst="rect">
            <a:avLst/>
          </a:prstGeom>
          <a:solidFill>
            <a:srgbClr val="161B22"/>
          </a:solidFill>
          <a:ln w="9525">
            <a:solidFill>
              <a:srgbClr val="D2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932688"/>
            <a:ext cx="5532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2A520"/>
                </a:solidFill>
                <a:latin typeface="Segoe UI"/>
              </a:rPr>
              <a:t>OpenRouter / Gemini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170432"/>
            <a:ext cx="5532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Segoe UI"/>
              </a:rPr>
              <a:t>Análise de sentimento 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81328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0363D"/>
                </a:solidFill>
                <a:latin typeface="Segoe UI"/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64208"/>
            <a:ext cx="2743200" cy="5943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728216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  <a:latin typeface="Segoe UI"/>
              </a:rPr>
              <a:t>src/data.py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96596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Segoe UI"/>
              </a:rPr>
              <a:t>Fetch + 17 indicadores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1664208"/>
            <a:ext cx="2743200" cy="594360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728216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8A6FF"/>
                </a:solidFill>
                <a:latin typeface="Segoe UI"/>
              </a:rPr>
              <a:t>src/model.py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96596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Segoe UI"/>
              </a:rPr>
              <a:t>Random Forest · predict_proba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664208"/>
            <a:ext cx="2743200" cy="5943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728216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  <a:latin typeface="Segoe UI"/>
              </a:rPr>
              <a:t>src/strategy.py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96596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Segoe UI"/>
              </a:rPr>
              <a:t>Sizing · SL/TP · Checks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1664208"/>
            <a:ext cx="2743200" cy="594360"/>
          </a:xfrm>
          <a:prstGeom prst="rect">
            <a:avLst/>
          </a:prstGeom>
          <a:solidFill>
            <a:srgbClr val="161B2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1728216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  <a:latin typeface="Segoe UI"/>
              </a:rPr>
              <a:t>src/broker.py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196596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Segoe UI"/>
              </a:rPr>
              <a:t>Alpaca · ordens · posições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276856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0363D"/>
                </a:solidFill>
                <a:latin typeface="Segoe UI"/>
              </a:rPr>
              <a:t>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468880"/>
            <a:ext cx="5669280" cy="594360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2532888"/>
            <a:ext cx="5532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8A6FF"/>
                </a:solidFill>
                <a:latin typeface="Segoe UI"/>
              </a:rPr>
              <a:t>src/app.py — Flask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2770632"/>
            <a:ext cx="5532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Segoe UI"/>
              </a:rPr>
              <a:t>bot_loop (1H) · exit_watchdog (10s) · REST API · Threads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2468880"/>
            <a:ext cx="5669280" cy="5943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2532888"/>
            <a:ext cx="5532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  <a:latin typeface="Segoe UI"/>
              </a:rPr>
              <a:t>SQLite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2770632"/>
            <a:ext cx="5532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Segoe UI"/>
              </a:rPr>
              <a:t>trades · runs · equity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3081528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0363D"/>
                </a:solidFill>
                <a:latin typeface="Segoe UI"/>
              </a:rPr>
              <a:t>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273552"/>
            <a:ext cx="11521440" cy="594360"/>
          </a:xfrm>
          <a:prstGeom prst="rect">
            <a:avLst/>
          </a:prstGeom>
          <a:solidFill>
            <a:srgbClr val="161B2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3337560"/>
            <a:ext cx="11384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  <a:latin typeface="Segoe UI"/>
              </a:rPr>
              <a:t>Dashboard Web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3575304"/>
            <a:ext cx="11384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Segoe UI"/>
              </a:rPr>
              <a:t>Jinja2 · Plotly.js · Polling 15s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8182E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6473952"/>
            <a:ext cx="12188952" cy="19050"/>
          </a:xfrm>
          <a:prstGeom prst="rect">
            <a:avLst/>
          </a:prstGeom>
          <a:solidFill>
            <a:srgbClr val="58A6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653796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  <a:latin typeface="Segoe UI"/>
              </a:rPr>
              <a:t>💡  Dois threads em background: bot_loop (1H) e exit_watchdog (10s) — o servidor Flask nunca bloqueia.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EDF3"/>
                </a:solidFill>
                <a:latin typeface="Segoe UI"/>
              </a:rPr>
              <a:t>Pipeline de Decisão — A cada candle de 1H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58368"/>
            <a:ext cx="11521440" cy="38100"/>
          </a:xfrm>
          <a:prstGeom prst="rect">
            <a:avLst/>
          </a:prstGeom>
          <a:solidFill>
            <a:srgbClr val="3FB95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74904" y="841248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58A6FF"/>
                </a:solidFill>
                <a:latin typeface="Segoe UI"/>
              </a:rPr>
              <a:t>Análise (1–5)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41248"/>
            <a:ext cx="38100" cy="201168"/>
          </a:xfrm>
          <a:prstGeom prst="rect">
            <a:avLst/>
          </a:prstGeom>
          <a:solidFill>
            <a:srgbClr val="58A6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5577840" cy="53035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16152"/>
            <a:ext cx="256032" cy="256032"/>
          </a:xfrm>
          <a:prstGeom prst="rect">
            <a:avLst/>
          </a:prstGeom>
          <a:solidFill>
            <a:srgbClr val="202834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07008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8B949E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143000"/>
            <a:ext cx="5074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  <a:latin typeface="Segoe UI"/>
              </a:rPr>
              <a:t>Fetch Market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353312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Segoe UI"/>
              </a:rPr>
              <a:t>90 dias · 1H · ~2.160 barras BTC/USD via Alpaca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55064"/>
            <a:ext cx="5577840" cy="53035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792224"/>
            <a:ext cx="256032" cy="256032"/>
          </a:xfrm>
          <a:prstGeom prst="rect">
            <a:avLst/>
          </a:prstGeom>
          <a:solidFill>
            <a:srgbClr val="202834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78308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8B949E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719072"/>
            <a:ext cx="5074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  <a:latin typeface="Segoe UI"/>
              </a:rPr>
              <a:t>Feature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1929384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Segoe UI"/>
              </a:rPr>
              <a:t>RSI, MACD, EMA-20/50, BB, ATR, OBV + 10 mais (17 total)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231136"/>
            <a:ext cx="5577840" cy="530352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2368296"/>
            <a:ext cx="256032" cy="256032"/>
          </a:xfrm>
          <a:prstGeom prst="rect">
            <a:avLst/>
          </a:prstGeom>
          <a:solidFill>
            <a:srgbClr val="202834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35915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58A6FF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295144"/>
            <a:ext cx="5074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  <a:latin typeface="Segoe UI"/>
              </a:rPr>
              <a:t>ML Prediction — Random Forest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505456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Segoe UI"/>
              </a:rPr>
              <a:t>P(TP antes SL em 12H) ≥ 55% → LONG · senão → FLAT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807208"/>
            <a:ext cx="5577840" cy="53035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2944368"/>
            <a:ext cx="256032" cy="256032"/>
          </a:xfrm>
          <a:prstGeom prst="rect">
            <a:avLst/>
          </a:prstGeom>
          <a:solidFill>
            <a:srgbClr val="202834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2935224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8B949E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2871216"/>
            <a:ext cx="5074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  <a:latin typeface="Segoe UI"/>
              </a:rPr>
              <a:t>Drift Detection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3081528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Segoe UI"/>
              </a:rPr>
              <a:t>Confiança média últimas 30 runs &lt; 50% → aviso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383280"/>
            <a:ext cx="5577840" cy="53035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3520440"/>
            <a:ext cx="256032" cy="256032"/>
          </a:xfrm>
          <a:prstGeom prst="rect">
            <a:avLst/>
          </a:prstGeom>
          <a:solidFill>
            <a:srgbClr val="202834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3511296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8B949E"/>
                </a:solidFill>
                <a:latin typeface="Segoe U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3447288"/>
            <a:ext cx="5074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  <a:latin typeface="Segoe UI"/>
              </a:rPr>
              <a:t>Sentiment Gate + Circuit Breaker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3657600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Segoe UI"/>
              </a:rPr>
              <a:t>Gemini ≤ −0.5 bloqueia · perda diária &gt;10% para trading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71616" y="841248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FB950"/>
                </a:solidFill>
                <a:latin typeface="Segoe UI"/>
              </a:rPr>
              <a:t>Execução (6–8)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16752" y="841248"/>
            <a:ext cx="38100" cy="201168"/>
          </a:xfrm>
          <a:prstGeom prst="rect">
            <a:avLst/>
          </a:prstGeom>
          <a:solidFill>
            <a:srgbClr val="3FB95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16752" y="1078992"/>
            <a:ext cx="5577840" cy="53035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08192" y="1216152"/>
            <a:ext cx="256032" cy="256032"/>
          </a:xfrm>
          <a:prstGeom prst="rect">
            <a:avLst/>
          </a:prstGeom>
          <a:solidFill>
            <a:srgbClr val="202834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08192" y="1207008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8B949E"/>
                </a:solidFill>
                <a:latin typeface="Segoe U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1143000"/>
            <a:ext cx="5074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  <a:latin typeface="Segoe UI"/>
              </a:rPr>
              <a:t>Position Sizing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1353312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Segoe UI"/>
              </a:rPr>
              <a:t>equity × 5% ÷ stop_pct · onde stop_pct = 1×ATR ÷ preço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16752" y="1655064"/>
            <a:ext cx="5577840" cy="530352"/>
          </a:xfrm>
          <a:prstGeom prst="rect">
            <a:avLst/>
          </a:prstGeom>
          <a:solidFill>
            <a:srgbClr val="161B2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08192" y="1792224"/>
            <a:ext cx="256032" cy="256032"/>
          </a:xfrm>
          <a:prstGeom prst="rect">
            <a:avLst/>
          </a:prstGeom>
          <a:solidFill>
            <a:srgbClr val="202834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08192" y="178308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FB950"/>
                </a:solidFill>
                <a:latin typeface="Segoe UI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719072"/>
            <a:ext cx="5074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  <a:latin typeface="Segoe UI"/>
              </a:rPr>
              <a:t>Market BUY + Disaster Stop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1929384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Segoe UI"/>
              </a:rPr>
              <a:t>Ordem de mercado + stop-limit a 3×ATR (safety net de crash)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16752" y="2231136"/>
            <a:ext cx="5577840" cy="530352"/>
          </a:xfrm>
          <a:prstGeom prst="rect">
            <a:avLst/>
          </a:prstGeom>
          <a:solidFill>
            <a:srgbClr val="161B2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08192" y="2368296"/>
            <a:ext cx="256032" cy="256032"/>
          </a:xfrm>
          <a:prstGeom prst="rect">
            <a:avLst/>
          </a:prstGeom>
          <a:solidFill>
            <a:srgbClr val="202834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08192" y="235915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FB950"/>
                </a:solidFill>
                <a:latin typeface="Segoe UI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2295144"/>
            <a:ext cx="5074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  <a:latin typeface="Segoe UI"/>
              </a:rPr>
              <a:t>Exit Watchdog — a cada 10s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2505456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Segoe UI"/>
              </a:rPr>
              <a:t>SL atingido (1×ATR) · TP atingido (2×ATR) · max 12H · sinal flip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16752" y="2852928"/>
            <a:ext cx="5577840" cy="548640"/>
          </a:xfrm>
          <a:prstGeom prst="rect">
            <a:avLst/>
          </a:prstGeom>
          <a:solidFill>
            <a:srgbClr val="0A251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016752" y="2852928"/>
            <a:ext cx="50800" cy="548640"/>
          </a:xfrm>
          <a:prstGeom prst="rect">
            <a:avLst/>
          </a:prstGeom>
          <a:solidFill>
            <a:srgbClr val="3FB95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26480" y="2926080"/>
            <a:ext cx="54132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O watchdog verifica SL e TP a cada 10 segundos — não depende da exchange, o que elimina ordens órfãs e permite saídas baseadas em qualquer condição.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A251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6473952"/>
            <a:ext cx="12188952" cy="19050"/>
          </a:xfrm>
          <a:prstGeom prst="rect">
            <a:avLst/>
          </a:prstGeom>
          <a:solidFill>
            <a:srgbClr val="3FB95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0040" y="653796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FB950"/>
                </a:solidFill>
                <a:latin typeface="Segoe UI"/>
              </a:rPr>
              <a:t>💡  O bot entra pouco e sai rápido — selectividade é a principal fonte de vantagem.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EDF3"/>
                </a:solidFill>
                <a:latin typeface="Segoe UI"/>
              </a:rPr>
              <a:t>Modelo de Machine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58368"/>
            <a:ext cx="11521440" cy="38100"/>
          </a:xfrm>
          <a:prstGeom prst="rect">
            <a:avLst/>
          </a:prstGeom>
          <a:solidFill>
            <a:srgbClr val="3FB95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88696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Segoe UI"/>
              </a:rPr>
              <a:t>Objetivo do modelo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5577840" cy="685800"/>
          </a:xfrm>
          <a:prstGeom prst="rect">
            <a:avLst/>
          </a:prstGeom>
          <a:solidFill>
            <a:srgbClr val="0A251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50800" cy="685800"/>
          </a:xfrm>
          <a:prstGeom prst="rect">
            <a:avLst/>
          </a:prstGeom>
          <a:solidFill>
            <a:srgbClr val="3FB95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261872"/>
            <a:ext cx="541324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"O Take-Profit (2×ATR) será atingido antes do Stop-Loss (1×ATR) nos próximos 12 candles?"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92024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49E"/>
                </a:solidFill>
                <a:latin typeface="Segoe UI"/>
              </a:rPr>
              <a:t>Target directamente alinhado com a lógica real de saída.
Precisão = taxa de vitória nas posições abertas.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42316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Segoe UI"/>
              </a:rPr>
              <a:t>Algoritmo &amp; Validação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724912"/>
            <a:ext cx="5577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E6EDF3"/>
                </a:solidFill>
                <a:latin typeface="Segoe UI"/>
              </a:rPr>
              <a:t>▸  Random Forest · 200 árvores · profundidade máx. 8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E6EDF3"/>
                </a:solidFill>
                <a:latin typeface="Segoe UI"/>
              </a:rPr>
              <a:t>▸  StandardScaler em todos os features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E6EDF3"/>
                </a:solidFill>
                <a:latin typeface="Segoe UI"/>
              </a:rPr>
              <a:t>▸  Walk-forward validation — TimeSeriesSplit 5 folds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E6EDF3"/>
                </a:solidFill>
                <a:latin typeface="Segoe UI"/>
              </a:rPr>
              <a:t>▸  Sem data leakage temporal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88696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Segoe UI"/>
              </a:rPr>
              <a:t>Top features (importância)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5577840" cy="25603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22529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  <a:latin typeface="Segoe UI"/>
              </a:rPr>
              <a:t>#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22529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  <a:latin typeface="Segoe UI"/>
              </a:rPr>
              <a:t>Feature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122529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  <a:latin typeface="Segoe UI"/>
              </a:rPr>
              <a:t>Peso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444752"/>
            <a:ext cx="5577840" cy="32004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49961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6EDF3"/>
                </a:solidFill>
                <a:latin typeface="Segoe U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149961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6EDF3"/>
                </a:solidFill>
                <a:latin typeface="Segoe UI"/>
              </a:rPr>
              <a:t>OBV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149961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FB950"/>
                </a:solidFill>
                <a:latin typeface="Segoe UI"/>
              </a:rPr>
              <a:t>11.9%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764792"/>
            <a:ext cx="5577840" cy="3200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181965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6EDF3"/>
                </a:solidFill>
                <a:latin typeface="Segoe U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181965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6EDF3"/>
                </a:solidFill>
                <a:latin typeface="Segoe UI"/>
              </a:rPr>
              <a:t>ATR-14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181965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FB950"/>
                </a:solidFill>
                <a:latin typeface="Segoe UI"/>
              </a:rPr>
              <a:t>10.0%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084832"/>
            <a:ext cx="5577840" cy="32004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1396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6EDF3"/>
                </a:solidFill>
                <a:latin typeface="Segoe U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21396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6EDF3"/>
                </a:solidFill>
                <a:latin typeface="Segoe UI"/>
              </a:rPr>
              <a:t>EMA-20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21396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FB950"/>
                </a:solidFill>
                <a:latin typeface="Segoe UI"/>
              </a:rPr>
              <a:t>9.6%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2404872"/>
            <a:ext cx="5577840" cy="3200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245973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6EDF3"/>
                </a:solidFill>
                <a:latin typeface="Segoe U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245973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6EDF3"/>
                </a:solidFill>
                <a:latin typeface="Segoe UI"/>
              </a:rPr>
              <a:t>EMA-50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245973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6EDF3"/>
                </a:solidFill>
                <a:latin typeface="Segoe UI"/>
              </a:rPr>
              <a:t>8.9%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2724912"/>
            <a:ext cx="5577840" cy="32004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277977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6EDF3"/>
                </a:solidFill>
                <a:latin typeface="Segoe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277977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6EDF3"/>
                </a:solidFill>
                <a:latin typeface="Segoe UI"/>
              </a:rPr>
              <a:t>BB High / 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277977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6EDF3"/>
                </a:solidFill>
                <a:latin typeface="Segoe UI"/>
              </a:rPr>
              <a:t>~8.2%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3044952"/>
            <a:ext cx="5577840" cy="3200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309981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6EDF3"/>
                </a:solidFill>
                <a:latin typeface="Segoe U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09981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6EDF3"/>
                </a:solidFill>
                <a:latin typeface="Segoe UI"/>
              </a:rPr>
              <a:t>MACD + Signal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309981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6EDF3"/>
                </a:solidFill>
                <a:latin typeface="Segoe UI"/>
              </a:rPr>
              <a:t>5.2%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3364992"/>
            <a:ext cx="5577840" cy="32004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63640" y="341985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6EDF3"/>
                </a:solidFill>
                <a:latin typeface="Segoe UI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341985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6EDF3"/>
                </a:solidFill>
                <a:latin typeface="Segoe UI"/>
              </a:rPr>
              <a:t>RSI-14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341985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49E"/>
                </a:solidFill>
                <a:latin typeface="Segoe UI"/>
              </a:rPr>
              <a:t>5.0%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3758184"/>
            <a:ext cx="5577840" cy="566928"/>
          </a:xfrm>
          <a:prstGeom prst="rect">
            <a:avLst/>
          </a:prstGeom>
          <a:solidFill>
            <a:srgbClr val="08182E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17920" y="3758184"/>
            <a:ext cx="50800" cy="566928"/>
          </a:xfrm>
          <a:prstGeom prst="rect">
            <a:avLst/>
          </a:prstGeom>
          <a:solidFill>
            <a:srgbClr val="58A6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27648" y="3831336"/>
            <a:ext cx="5413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Volume (OBV) e volatilidade (ATR) superam indicadores de momentum — onde há volume há movimento.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8182E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6473952"/>
            <a:ext cx="12188952" cy="19050"/>
          </a:xfrm>
          <a:prstGeom prst="rect">
            <a:avLst/>
          </a:prstGeom>
          <a:solidFill>
            <a:srgbClr val="58A6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" y="653796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  <a:latin typeface="Segoe UI"/>
              </a:rPr>
              <a:t>💡  Walk-forward garante que cada previsão usa apenas dados do passado — como numa operação real.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EDF3"/>
                </a:solidFill>
                <a:latin typeface="Segoe UI"/>
              </a:rPr>
              <a:t>Métricas do Modelo (holdout)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58368"/>
            <a:ext cx="11521440" cy="38100"/>
          </a:xfrm>
          <a:prstGeom prst="rect">
            <a:avLst/>
          </a:prstGeom>
          <a:solidFill>
            <a:srgbClr val="3FB95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33756" y="868680"/>
            <a:ext cx="2743200" cy="10058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5196" y="93268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B949E"/>
                </a:solidFill>
                <a:latin typeface="Segoe UI"/>
              </a:rPr>
              <a:t>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" y="112471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FB950"/>
                </a:solidFill>
                <a:latin typeface="Segoe UI"/>
              </a:rPr>
              <a:t>67.9%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" y="16184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  <a:latin typeface="Segoe UI"/>
              </a:rPr>
              <a:t>previsões corretas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59836" y="868680"/>
            <a:ext cx="2743200" cy="10058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51276" y="93268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B949E"/>
                </a:solidFill>
                <a:latin typeface="Segoe UI"/>
              </a:rPr>
              <a:t>Precision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1276" y="112471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2A520"/>
                </a:solidFill>
                <a:latin typeface="Segoe UI"/>
              </a:rPr>
              <a:t>23.6%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1276" y="16184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  <a:latin typeface="Segoe UI"/>
              </a:rPr>
              <a:t>taxa de vitória real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5916" y="868680"/>
            <a:ext cx="2743200" cy="10058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7356" y="93268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B949E"/>
                </a:solidFill>
                <a:latin typeface="Segoe UI"/>
              </a:rPr>
              <a:t>Recall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7356" y="112471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2A520"/>
                </a:solidFill>
                <a:latin typeface="Segoe UI"/>
              </a:rPr>
              <a:t>10.9%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7356" y="16184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  <a:latin typeface="Segoe UI"/>
              </a:rPr>
              <a:t>oportunidades captadas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11996" y="868680"/>
            <a:ext cx="2743200" cy="10058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3436" y="93268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B949E"/>
                </a:solidFill>
                <a:latin typeface="Segoe UI"/>
              </a:rPr>
              <a:t>F1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03436" y="112471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B949E"/>
                </a:solidFill>
                <a:latin typeface="Segoe UI"/>
              </a:rPr>
              <a:t>0.149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3436" y="16184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  <a:latin typeface="Segoe UI"/>
              </a:rPr>
              <a:t>P × R balanceados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210312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Segoe UI"/>
              </a:rPr>
              <a:t>O que significam estes números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2395728"/>
            <a:ext cx="5577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E6EDF3"/>
                </a:solidFill>
                <a:latin typeface="Segoe UI"/>
              </a:rPr>
              <a:t>▸  Precision 23.6% — o bot ganha 1 em cada 4 trades que abre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E6EDF3"/>
                </a:solidFill>
                <a:latin typeface="Segoe UI"/>
              </a:rPr>
              <a:t>▸  Break-even para RR 2:1 é 33.3% — estamos abaixo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E6EDF3"/>
                </a:solidFill>
                <a:latin typeface="Segoe UI"/>
              </a:rPr>
              <a:t>▸  Alta accuracy (68%) porque o modelo acerta a maior parte dos FLATs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E6EDF3"/>
                </a:solidFill>
                <a:latin typeface="Segoe UI"/>
              </a:rPr>
              <a:t>▸  Recall baixo = poucas entradas — o bot é muito selectivo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10312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Segoe UI"/>
              </a:rPr>
              <a:t>Dados de treino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395728"/>
            <a:ext cx="5577840" cy="3200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45973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Amostras treino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245973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  <a:latin typeface="Segoe UI"/>
              </a:rPr>
              <a:t>6.967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715768"/>
            <a:ext cx="5577840" cy="32004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277977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Amostras teste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277977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1.742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035808"/>
            <a:ext cx="5577840" cy="3200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309981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Features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309981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17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355848"/>
            <a:ext cx="5577840" cy="32004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341985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Target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341985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TP antes SL em 12H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3675888"/>
            <a:ext cx="5577840" cy="3200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373989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Validação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373989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Walk-forward 5 folds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8182E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473952"/>
            <a:ext cx="12188952" cy="19050"/>
          </a:xfrm>
          <a:prstGeom prst="rect">
            <a:avLst/>
          </a:prstGeom>
          <a:solidFill>
            <a:srgbClr val="D2A52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653796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2A520"/>
                </a:solidFill>
                <a:latin typeface="Segoe UI"/>
              </a:rPr>
              <a:t>💡  Precision abaixo de 33.3% significa edge negativo por trade — o ganho vem da selectividade, não da precisão.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EDF3"/>
                </a:solidFill>
                <a:latin typeface="Segoe UI"/>
              </a:rPr>
              <a:t>Gestão de Risco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58368"/>
            <a:ext cx="11521440" cy="38100"/>
          </a:xfrm>
          <a:prstGeom prst="rect">
            <a:avLst/>
          </a:prstGeom>
          <a:solidFill>
            <a:srgbClr val="3FB95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841248"/>
            <a:ext cx="5577840" cy="20116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" y="9326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6EDF3"/>
                </a:solidFill>
                <a:latin typeface="Segoe UI"/>
              </a:rPr>
              <a:t>🔴🟢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131673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6EDF3"/>
                </a:solidFill>
                <a:latin typeface="Segoe UI"/>
              </a:rPr>
              <a:t>Stop-Loss (1×ATR) &amp; Take-Profit (2×ATR)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1618488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Segoe UI"/>
              </a:rPr>
              <a:t>Rácio RR de 2:1. Geridos pelo exit watchdog a cada 10 segundos — não por ordens na exchange. Uma posição vencedora compensa 2 perdedoras.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841248"/>
            <a:ext cx="5577840" cy="20116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44768" y="9326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6EDF3"/>
                </a:solidFill>
                <a:latin typeface="Segoe UI"/>
              </a:rPr>
              <a:t>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44768" y="131673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6EDF3"/>
                </a:solidFill>
                <a:latin typeface="Segoe UI"/>
              </a:rPr>
              <a:t>Circuit Breaker + Max Hold (12H)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44768" y="1618488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Segoe UI"/>
              </a:rPr>
              <a:t>Bloqueia novos trades se perda diária ultrapassar 10% do capital. Fecha posição automaticamente após 12 candles mesmo sem SL/TP.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990088"/>
            <a:ext cx="5577840" cy="20116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0815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6EDF3"/>
                </a:solidFill>
                <a:latin typeface="Segoe UI"/>
              </a:rPr>
              <a:t>⚠️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346557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6EDF3"/>
                </a:solidFill>
                <a:latin typeface="Segoe UI"/>
              </a:rPr>
              <a:t>Disaster Stop (3×ATR) na Alpaca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" y="3767328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Segoe UI"/>
              </a:rPr>
              <a:t>Única ordem colocada na exchange — stop-limit a 3×ATR abaixo da entrada. Só dispara se o servidor cair. Protege contra perda catastrófica sem interferir com saídas normais.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2990088"/>
            <a:ext cx="5577840" cy="20116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4768" y="30815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6EDF3"/>
                </a:solidFill>
                <a:latin typeface="Segoe UI"/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4768" y="346557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6EDF3"/>
                </a:solidFill>
                <a:latin typeface="Segoe UI"/>
              </a:rPr>
              <a:t>Position Sizing (5% fixo)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4768" y="3767328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Segoe UI"/>
              </a:rPr>
              <a:t>Risco fixo de 5% do capital por trade, ajustado pela volatilidade (ATR). Testámos Kelly Criterion — não melhora com edge negativo por trade.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A251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88952" cy="19050"/>
          </a:xfrm>
          <a:prstGeom prst="rect">
            <a:avLst/>
          </a:prstGeom>
          <a:solidFill>
            <a:srgbClr val="3FB95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653796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FB950"/>
                </a:solidFill>
                <a:latin typeface="Segoe UI"/>
              </a:rPr>
              <a:t>💡  Duas camadas de protecção: app-side (lógica real) + exchange-side (safety net) — resiliente a falhas.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EDF3"/>
                </a:solidFill>
                <a:latin typeface="Segoe UI"/>
              </a:rPr>
              <a:t>Dashboard Web em Tempo Real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58368"/>
            <a:ext cx="11521440" cy="38100"/>
          </a:xfrm>
          <a:prstGeom prst="rect">
            <a:avLst/>
          </a:prstGeom>
          <a:solidFill>
            <a:srgbClr val="3FB95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88696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Segoe UI"/>
              </a:rPr>
              <a:t>Interface ao vivo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188720"/>
            <a:ext cx="5577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E6EDF3"/>
                </a:solidFill>
                <a:latin typeface="Segoe UI"/>
              </a:rPr>
              <a:t>▸  Preço BTC e sinal do bot actualizados a cada 15 segundos sem page refresh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E6EDF3"/>
                </a:solidFill>
                <a:latin typeface="Segoe UI"/>
              </a:rPr>
              <a:t>▸  Gráfico de velas interactivo com zoom, pan, scroll (estilo TradingView)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E6EDF3"/>
                </a:solidFill>
                <a:latin typeface="Segoe UI"/>
              </a:rPr>
              <a:t>▸  Linhas de SL e TP sobrepostas no gráfico com etiqueta de preço ao vivo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E6EDF3"/>
                </a:solidFill>
                <a:latin typeface="Segoe UI"/>
              </a:rPr>
              <a:t>▸  RSI-14 e MACD sincronizados com o gráfico principal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E6EDF3"/>
                </a:solidFill>
                <a:latin typeface="Segoe UI"/>
              </a:rPr>
              <a:t>▸  Kill switch para fechar todas as posições imediatamente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274320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Segoe UI"/>
              </a:rPr>
              <a:t>Secções informativas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3035808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E6EDF3"/>
                </a:solidFill>
                <a:latin typeface="Segoe UI"/>
              </a:rPr>
              <a:t>▸  📊  Showcase 6 meses — equity curve + log de 23 trades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E6EDF3"/>
                </a:solidFill>
                <a:latin typeface="Segoe UI"/>
              </a:rPr>
              <a:t>▸  🤖  Métricas ML + gráfico de feature importance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E6EDF3"/>
                </a:solidFill>
                <a:latin typeface="Segoe UI"/>
              </a:rPr>
              <a:t>▸  🔄  Pipeline explicado passo a passo com thresholds reais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886968"/>
            <a:ext cx="5577840" cy="9601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941832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B949E"/>
                </a:solidFill>
                <a:latin typeface="Segoe UI"/>
              </a:rPr>
              <a:t>Polling intervals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7043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15s  →  preço + posição + SL/TP no gráfico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46304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30s  →  sinal ML + trades + métricas completas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938528"/>
            <a:ext cx="5577840" cy="12801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993392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B949E"/>
                </a:solidFill>
                <a:latin typeface="Segoe UI"/>
              </a:rPr>
              <a:t>REST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22199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FB950"/>
                </a:solidFill>
                <a:latin typeface="Segoe UI"/>
              </a:rPr>
              <a:t>GET   /api/live_stats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4780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FB950"/>
                </a:solidFill>
                <a:latin typeface="Segoe UI"/>
              </a:rPr>
              <a:t>GET   /api/dashboard_data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73405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FB950"/>
                </a:solidFill>
                <a:latin typeface="Segoe UI"/>
              </a:rPr>
              <a:t>GET   /api/showcase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99008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85149"/>
                </a:solidFill>
                <a:latin typeface="Segoe UI"/>
              </a:rPr>
              <a:t>POST  /api/kill_switch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310128"/>
            <a:ext cx="5577840" cy="548640"/>
          </a:xfrm>
          <a:prstGeom prst="rect">
            <a:avLst/>
          </a:prstGeom>
          <a:solidFill>
            <a:srgbClr val="08182E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310128"/>
            <a:ext cx="50800" cy="548640"/>
          </a:xfrm>
          <a:prstGeom prst="rect">
            <a:avLst/>
          </a:prstGeom>
          <a:solidFill>
            <a:srgbClr val="58A6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3383280"/>
            <a:ext cx="54132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Sem WebSockets — polling assíncrono com fetch(). Plotly.js actualiza gráficos in-place preservando o zoom do utilizador.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8182E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73952"/>
            <a:ext cx="12188952" cy="19050"/>
          </a:xfrm>
          <a:prstGeom prst="rect">
            <a:avLst/>
          </a:prstGeom>
          <a:solidFill>
            <a:srgbClr val="58A6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653796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  <a:latin typeface="Segoe UI"/>
              </a:rPr>
              <a:t>💡  O dashboard é a 'cabine de pilotagem' — tudo visível numa única página sem necessidade de refresh.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EDF3"/>
                </a:solidFill>
                <a:latin typeface="Segoe UI"/>
              </a:rPr>
              <a:t>Resultados — Backtest Walk-Forward 6 Meses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58368"/>
            <a:ext cx="11521440" cy="38100"/>
          </a:xfrm>
          <a:prstGeom prst="rect">
            <a:avLst/>
          </a:prstGeom>
          <a:solidFill>
            <a:srgbClr val="3FB95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  <a:latin typeface="Segoe UI"/>
              </a:rPr>
              <a:t>Outperformance vs Buy &amp; Hold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3FB950"/>
                </a:solidFill>
                <a:latin typeface="Segoe UI"/>
              </a:rPr>
              <a:t>+10.25%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  <a:latin typeface="Segoe UI"/>
              </a:rPr>
              <a:t>estratégia −0.50%  ·  buy &amp; hold −10.74%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880360"/>
            <a:ext cx="2286000" cy="8229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94436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B949E"/>
                </a:solidFill>
                <a:latin typeface="Segoe UI"/>
              </a:rPr>
              <a:t>Win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3639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FB950"/>
                </a:solidFill>
                <a:latin typeface="Segoe UI"/>
              </a:rPr>
              <a:t>52.2%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2880360"/>
            <a:ext cx="2286000" cy="8229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294436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B949E"/>
                </a:solidFill>
                <a:latin typeface="Segoe UI"/>
              </a:rPr>
              <a:t>Trades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13639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EDF3"/>
                </a:solidFill>
                <a:latin typeface="Segoe UI"/>
              </a:rPr>
              <a:t>23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886968"/>
            <a:ext cx="5577840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8869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B949E"/>
                </a:solidFill>
                <a:latin typeface="Segoe UI"/>
              </a:rPr>
              <a:t>Métrica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8869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B949E"/>
                </a:solidFill>
                <a:latin typeface="Segoe UI"/>
              </a:rPr>
              <a:t>Valor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161288"/>
            <a:ext cx="5577840" cy="27432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2070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Max Drawdown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12070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5149"/>
                </a:solidFill>
                <a:latin typeface="Segoe UI"/>
              </a:rPr>
              <a:t>−12.34%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435608"/>
            <a:ext cx="5577840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4813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Profit Factor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14813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  <a:latin typeface="Segoe UI"/>
              </a:rPr>
              <a:t>1.05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709928"/>
            <a:ext cx="5577840" cy="27432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7556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Avg Win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17556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  <a:latin typeface="Segoe UI"/>
              </a:rPr>
              <a:t>+$1.23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984248"/>
            <a:ext cx="5577840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20299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Avg Loss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20299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5149"/>
                </a:solidFill>
                <a:latin typeface="Segoe UI"/>
              </a:rPr>
              <a:t>−$1.28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2258568"/>
            <a:ext cx="5577840" cy="27432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23042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Sharpe Ratio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23042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2A520"/>
                </a:solidFill>
                <a:latin typeface="Segoe UI"/>
              </a:rPr>
              <a:t>−0.05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2395728"/>
            <a:ext cx="5577840" cy="777240"/>
          </a:xfrm>
          <a:prstGeom prst="rect">
            <a:avLst/>
          </a:prstGeom>
          <a:solidFill>
            <a:srgbClr val="282005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2395728"/>
            <a:ext cx="50800" cy="777240"/>
          </a:xfrm>
          <a:prstGeom prst="rect">
            <a:avLst/>
          </a:prstGeom>
          <a:solidFill>
            <a:srgbClr val="D2A52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7648" y="2468880"/>
            <a:ext cx="5413248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Contexto: período fortemente bearish para BTC (−10.7%). O bot preservou capital ao ficar maioritariamente FLAT — a vantagem vem de não perder, não de ganhar muito.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A251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6473952"/>
            <a:ext cx="12188952" cy="19050"/>
          </a:xfrm>
          <a:prstGeom prst="rect">
            <a:avLst/>
          </a:prstGeom>
          <a:solidFill>
            <a:srgbClr val="3FB95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653796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FB950"/>
                </a:solidFill>
                <a:latin typeface="Segoe UI"/>
              </a:rPr>
              <a:t>💡  Em mercado em baixa, não perder já é ganhar — o bot superou o benchmark em +10.25%.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EDF3"/>
                </a:solidFill>
                <a:latin typeface="Segoe UI"/>
              </a:rPr>
              <a:t>Análise — Kelly Criterion vs Fixed 5%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58368"/>
            <a:ext cx="11521440" cy="38100"/>
          </a:xfrm>
          <a:prstGeom prst="rect">
            <a:avLst/>
          </a:prstGeom>
          <a:solidFill>
            <a:srgbClr val="3FB95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868680"/>
            <a:ext cx="5577840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B949E"/>
                </a:solidFill>
                <a:latin typeface="Segoe UI"/>
              </a:rPr>
              <a:t>Estratégia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914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B949E"/>
                </a:solidFill>
                <a:latin typeface="Segoe UI"/>
              </a:rPr>
              <a:t>Retorno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914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B949E"/>
                </a:solidFill>
                <a:latin typeface="Segoe UI"/>
              </a:rPr>
              <a:t>Sharpe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914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B949E"/>
                </a:solidFill>
                <a:latin typeface="Segoe UI"/>
              </a:rPr>
              <a:t>Max DD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143000"/>
            <a:ext cx="5577840" cy="347472"/>
          </a:xfrm>
          <a:prstGeom prst="rect">
            <a:avLst/>
          </a:prstGeom>
          <a:solidFill>
            <a:srgbClr val="0A2510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20700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  <a:latin typeface="Segoe UI"/>
              </a:rPr>
              <a:t>Fixed 5% (atual)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120700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FB950"/>
                </a:solidFill>
                <a:latin typeface="Segoe UI"/>
              </a:rPr>
              <a:t>+4.72%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120700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0.17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120700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85149"/>
                </a:solidFill>
                <a:latin typeface="Segoe UI"/>
              </a:rPr>
              <a:t>22.1%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490472"/>
            <a:ext cx="5577840" cy="34747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15544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Full Kelly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15544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FB950"/>
                </a:solidFill>
                <a:latin typeface="Segoe UI"/>
              </a:rPr>
              <a:t>+3.11%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15544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0.19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15544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85149"/>
                </a:solidFill>
                <a:latin typeface="Segoe UI"/>
              </a:rPr>
              <a:t>10.5%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1837944"/>
            <a:ext cx="5577840" cy="347472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190195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Half Kelly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190195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FB950"/>
                </a:solidFill>
                <a:latin typeface="Segoe UI"/>
              </a:rPr>
              <a:t>+1.52%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190195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0.16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190195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85149"/>
                </a:solidFill>
                <a:latin typeface="Segoe UI"/>
              </a:rPr>
              <a:t>5.7%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185416"/>
            <a:ext cx="5577840" cy="34747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224942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Quarter Kelly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224942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FB950"/>
                </a:solidFill>
                <a:latin typeface="Segoe UI"/>
              </a:rPr>
              <a:t>+0.79%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224942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0.16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224942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85149"/>
                </a:solidFill>
                <a:latin typeface="Segoe UI"/>
              </a:rPr>
              <a:t>2.9%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88696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Segoe UI"/>
              </a:rPr>
              <a:t>Porquê Kelly não funciona aqui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1188720"/>
            <a:ext cx="5577840" cy="1234440"/>
          </a:xfrm>
          <a:prstGeom prst="rect">
            <a:avLst/>
          </a:prstGeom>
          <a:solidFill>
            <a:srgbClr val="282005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1188720"/>
            <a:ext cx="50800" cy="1234440"/>
          </a:xfrm>
          <a:prstGeom prst="rect">
            <a:avLst/>
          </a:prstGeom>
          <a:solidFill>
            <a:srgbClr val="D2A52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27648" y="1261872"/>
            <a:ext cx="5413248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f* = (p × b − q) / b
Com p=0.236, b=2  →  f* = −14.6% (não apostar)
O modelo prevê confiança de ~55–65% mas a precisão real é 23.6%.
Kelly usa probabilidades optimistas → subdimensiona ganhos.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2514600"/>
            <a:ext cx="5577840" cy="685800"/>
          </a:xfrm>
          <a:prstGeom prst="rect">
            <a:avLst/>
          </a:prstGeom>
          <a:solidFill>
            <a:srgbClr val="0A251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2514600"/>
            <a:ext cx="50800" cy="685800"/>
          </a:xfrm>
          <a:prstGeom prst="rect">
            <a:avLst/>
          </a:prstGeom>
          <a:solidFill>
            <a:srgbClr val="3FB95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27648" y="2587752"/>
            <a:ext cx="541324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Quando Kelly funcionaria: precisão ≥ 33.3% (break-even para RR 2:1). Abaixo disso, fixed fraction ganha sempre.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8182E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6473952"/>
            <a:ext cx="12188952" cy="19050"/>
          </a:xfrm>
          <a:prstGeom prst="rect">
            <a:avLst/>
          </a:prstGeom>
          <a:solidFill>
            <a:srgbClr val="D2A52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653796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2A520"/>
                </a:solidFill>
                <a:latin typeface="Segoe UI"/>
              </a:rPr>
              <a:t>💡  Kelly só é válido com edge positivo por trade — primeiro melhorar o modelo, depois aplicar Kelly.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EDF3"/>
                </a:solidFill>
                <a:latin typeface="Segoe UI"/>
              </a:rPr>
              <a:t>Conclusões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58368"/>
            <a:ext cx="11521440" cy="38100"/>
          </a:xfrm>
          <a:prstGeom prst="rect">
            <a:avLst/>
          </a:prstGeom>
          <a:solidFill>
            <a:srgbClr val="3FB95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88696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Segoe UI"/>
              </a:rPr>
              <a:t>O que conseguimos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188720"/>
            <a:ext cx="5577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E6EDF3"/>
                </a:solidFill>
                <a:latin typeface="Segoe UI"/>
              </a:rPr>
              <a:t>▸  +10.25% de outperformance vs Buy &amp; Hold num período bearish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E6EDF3"/>
                </a:solidFill>
                <a:latin typeface="Segoe UI"/>
              </a:rPr>
              <a:t>▸  Pipeline completo end-to-end com 8 camadas de decisão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E6EDF3"/>
                </a:solidFill>
                <a:latin typeface="Segoe UI"/>
              </a:rPr>
              <a:t>▸  Sistema de exit management robusto — watchdog 10s + disaster stop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E6EDF3"/>
                </a:solidFill>
                <a:latin typeface="Segoe UI"/>
              </a:rPr>
              <a:t>▸  Dashboard profissional com atualização em tempo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88696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5149"/>
                </a:solidFill>
                <a:latin typeface="Segoe UI"/>
              </a:rPr>
              <a:t>Limitações identificadas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5577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E6EDF3"/>
                </a:solidFill>
                <a:latin typeface="Segoe UI"/>
              </a:rPr>
              <a:t>▸  Precision 23.6% — abaixo do break-even (33.3%)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E6EDF3"/>
                </a:solidFill>
                <a:latin typeface="Segoe UI"/>
              </a:rPr>
              <a:t>▸  Apenas 23 trades em 6 meses — baixa frequência de sinal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E6EDF3"/>
                </a:solidFill>
                <a:latin typeface="Segoe UI"/>
              </a:rPr>
              <a:t>▸  Kelly Criterion não aplicável sem edge positivo por trade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E6EDF3"/>
                </a:solidFill>
                <a:latin typeface="Segoe UI"/>
              </a:rPr>
              <a:t>▸  Paper trading — slippage real pode ser maior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606040"/>
            <a:ext cx="11521440" cy="777240"/>
          </a:xfrm>
          <a:prstGeom prst="rect">
            <a:avLst/>
          </a:prstGeom>
          <a:solidFill>
            <a:srgbClr val="08182E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2606040"/>
            <a:ext cx="50800" cy="777240"/>
          </a:xfrm>
          <a:prstGeom prst="rect">
            <a:avLst/>
          </a:prstGeom>
          <a:solidFill>
            <a:srgbClr val="58A6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2679192"/>
            <a:ext cx="11356848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O bot demonstra que selectividade inteligente — ficar FLAT na maioria das barras — pode superar Buy &amp; Hold em mercados em baixa. O valor está na ausência de maus trades, não na qualidade de cada trade individual.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A251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473952"/>
            <a:ext cx="12188952" cy="19050"/>
          </a:xfrm>
          <a:prstGeom prst="rect">
            <a:avLst/>
          </a:prstGeom>
          <a:solidFill>
            <a:srgbClr val="3FB95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53796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FB950"/>
                </a:solidFill>
                <a:latin typeface="Segoe UI"/>
              </a:rPr>
              <a:t>💡  Evitar perdas é tão valioso quanto ganhar — o bot prova que disciplina algorítmica supera intuição humana.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EDF3"/>
                </a:solidFill>
                <a:latin typeface="Segoe UI"/>
              </a:rPr>
              <a:t>Metodologia &amp; Contribuições da Equipa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58368"/>
            <a:ext cx="11521440" cy="38100"/>
          </a:xfrm>
          <a:prstGeom prst="rect">
            <a:avLst/>
          </a:prstGeom>
          <a:solidFill>
            <a:srgbClr val="3FB95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88696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Segoe UI"/>
              </a:rPr>
              <a:t>Processo de Desenvolvimento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188720"/>
            <a:ext cx="5577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E6EDF3"/>
                </a:solidFill>
                <a:latin typeface="Segoe UI"/>
              </a:rPr>
              <a:t>▸  Abordagem iterativa — ciclos semanais de build → test → backtest → refine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E6EDF3"/>
                </a:solidFill>
                <a:latin typeface="Segoe UI"/>
              </a:rPr>
              <a:t>▸  Controlo de versões via Git — commits atómicos por feature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E6EDF3"/>
                </a:solidFill>
                <a:latin typeface="Segoe UI"/>
              </a:rPr>
              <a:t>▸  Testes de integração com dados reais da Alpaca (paper trading)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E6EDF3"/>
                </a:solidFill>
                <a:latin typeface="Segoe UI"/>
              </a:rPr>
              <a:t>▸  Walk-forward backtest como critério de aceitação de cada modelo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E6EDF3"/>
                </a:solidFill>
                <a:latin typeface="Segoe UI"/>
              </a:rPr>
              <a:t>▸  Deploy contínuo em Railway — dashboard sempre acessível ao grupo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743200"/>
            <a:ext cx="5577840" cy="548640"/>
          </a:xfrm>
          <a:prstGeom prst="rect">
            <a:avLst/>
          </a:prstGeom>
          <a:solidFill>
            <a:srgbClr val="0A251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2743200"/>
            <a:ext cx="50800" cy="548640"/>
          </a:xfrm>
          <a:prstGeom prst="rect">
            <a:avLst/>
          </a:prstGeom>
          <a:solidFill>
            <a:srgbClr val="3FB95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2816352"/>
            <a:ext cx="54132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Nenhuma funcionalidade considerada 'pronta' sem backtest validar métricas iguais ou superiores à iteração anterior.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88696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Segoe UI"/>
              </a:rPr>
              <a:t>Contribuições por Membro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5577840" cy="65836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126187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6EDF3"/>
                </a:solidFill>
                <a:latin typeface="Segoe UI"/>
              </a:rPr>
              <a:t>Raphael Malburg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7648" y="151790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Segoe UI"/>
              </a:rPr>
              <a:t>Arquitectura do sistema · Flask API · Dashboard web · Deploy Railway · Integração Alpaca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920240"/>
            <a:ext cx="5577840" cy="65836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99339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6EDF3"/>
                </a:solidFill>
                <a:latin typeface="Segoe UI"/>
              </a:rPr>
              <a:t>André Neves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24942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Segoe UI"/>
              </a:rPr>
              <a:t>Pipeline ML · Feature engineering · Backtesting walk-forward · Análise de métricas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651760"/>
            <a:ext cx="5577840" cy="65836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272491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6EDF3"/>
                </a:solidFill>
                <a:latin typeface="Segoe UI"/>
              </a:rPr>
              <a:t>Vasco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298094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Segoe UI"/>
              </a:rPr>
              <a:t>Gestão de risco · Exit watchdog · Análise Kelly Criterion · Position sizing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383280"/>
            <a:ext cx="5577840" cy="65836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345643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6EDF3"/>
                </a:solidFill>
                <a:latin typeface="Segoe UI"/>
              </a:rPr>
              <a:t>Beatriz Ferreira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371246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Segoe UI"/>
              </a:rPr>
              <a:t>Integração sentimento LLM · Testes de integração · Documentação · Análise de resultados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8182E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73952"/>
            <a:ext cx="12188952" cy="19050"/>
          </a:xfrm>
          <a:prstGeom prst="rect">
            <a:avLst/>
          </a:prstGeom>
          <a:solidFill>
            <a:srgbClr val="58A6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653796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  <a:latin typeface="Segoe UI"/>
              </a:rPr>
              <a:t>💡  Cada módulo foi desenvolvido e testado independentemente antes da integração — falhas identificadas cedo.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EDF3"/>
                </a:solidFill>
                <a:latin typeface="Segoe UI"/>
              </a:rPr>
              <a:t>Próximos Passos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58368"/>
            <a:ext cx="11521440" cy="38100"/>
          </a:xfrm>
          <a:prstGeom prst="rect">
            <a:avLst/>
          </a:prstGeom>
          <a:solidFill>
            <a:srgbClr val="3FB95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88696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Segoe UI"/>
              </a:rPr>
              <a:t>Prioridade — melhorar o modelo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188720"/>
            <a:ext cx="5577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E6EDF3"/>
                </a:solidFill>
                <a:latin typeface="Segoe UI"/>
              </a:rPr>
              <a:t>▸  Substituir Random Forest por XGBoost / LightGBM — melhor para séries temporais financeiras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E6EDF3"/>
                </a:solidFill>
                <a:latin typeface="Segoe UI"/>
              </a:rPr>
              <a:t>▸  Aumentar threshold para ≥ 65% de confiança — menos trades, precision maior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E6EDF3"/>
                </a:solidFill>
                <a:latin typeface="Segoe UI"/>
              </a:rPr>
              <a:t>▸  Adicionar funding rates e open interest como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286000"/>
            <a:ext cx="5577840" cy="658368"/>
          </a:xfrm>
          <a:prstGeom prst="rect">
            <a:avLst/>
          </a:prstGeom>
          <a:solidFill>
            <a:srgbClr val="0A251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2286000"/>
            <a:ext cx="50800" cy="658368"/>
          </a:xfrm>
          <a:prstGeom prst="rect">
            <a:avLst/>
          </a:prstGeom>
          <a:solidFill>
            <a:srgbClr val="3FB95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2359152"/>
            <a:ext cx="54132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Meta: precision ≥ 33.3% → Kelly Criterion passa a funcionar → sistema tem edge estatístico positivo por trade.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88696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Segoe UI"/>
              </a:rPr>
              <a:t>Sistema &amp; Infraestrutura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188720"/>
            <a:ext cx="5577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E6EDF3"/>
                </a:solidFill>
                <a:latin typeface="Segoe UI"/>
              </a:rPr>
              <a:t>▸  Trailing stop — protege lucros em tendências prolongadas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E6EDF3"/>
                </a:solidFill>
                <a:latin typeface="Segoe UI"/>
              </a:rPr>
              <a:t>▸  ✓ Deploy em cloud (Railway) — operacional 24/7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E6EDF3"/>
                </a:solidFill>
                <a:latin typeface="Segoe UI"/>
              </a:rPr>
              <a:t>▸  Alertas por Telegram/Discord quando trade é executado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286000"/>
            <a:ext cx="5577840" cy="658368"/>
          </a:xfrm>
          <a:prstGeom prst="rect">
            <a:avLst/>
          </a:prstGeom>
          <a:solidFill>
            <a:srgbClr val="08182E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286000"/>
            <a:ext cx="50800" cy="658368"/>
          </a:xfrm>
          <a:prstGeom prst="rect">
            <a:avLst/>
          </a:prstGeom>
          <a:solidFill>
            <a:srgbClr val="58A6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359152"/>
            <a:ext cx="54132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Sistema já operacional em Railway com dashboard público. Próxima barreira é elevar precision acima do break-even para live trading.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8182E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73952"/>
            <a:ext cx="12188952" cy="19050"/>
          </a:xfrm>
          <a:prstGeom prst="rect">
            <a:avLst/>
          </a:prstGeom>
          <a:solidFill>
            <a:srgbClr val="58A6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653796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  <a:latin typeface="Segoe UI"/>
              </a:rPr>
              <a:t>💡  Um passo de cada vez: primeiro precision &gt; 33%, depois Kelly, depois capital real.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EDF3"/>
                </a:solidFill>
                <a:latin typeface="Segoe UI"/>
              </a:rPr>
              <a:t>Referências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58368"/>
            <a:ext cx="11521440" cy="38100"/>
          </a:xfrm>
          <a:prstGeom prst="rect">
            <a:avLst/>
          </a:prstGeom>
          <a:solidFill>
            <a:srgbClr val="3FB95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88696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Segoe UI"/>
              </a:rPr>
              <a:t>Algoritmos &amp;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188720"/>
            <a:ext cx="5577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E6EDF3"/>
                </a:solidFill>
                <a:latin typeface="Segoe UI"/>
              </a:rPr>
              <a:t>▸  Breiman, L. (2001). Random Forests. Machine Learning, 45(1), 5–32.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E6EDF3"/>
                </a:solidFill>
                <a:latin typeface="Segoe UI"/>
              </a:rPr>
              <a:t>▸  Prado, M. L. (2018). Advances in Financial Machine Learning. Wiley.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E6EDF3"/>
                </a:solidFill>
                <a:latin typeface="Segoe UI"/>
              </a:rPr>
              <a:t>▸  Chan, E. P. (2013). Algorithmic Trading: Winning Strategies. Wiley.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E6EDF3"/>
                </a:solidFill>
                <a:latin typeface="Segoe UI"/>
              </a:rPr>
              <a:t>▸  Kelly, J. L. (1956). A New Interpretation of Information Rate. Bell System Technical Journal.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E6EDF3"/>
                </a:solidFill>
                <a:latin typeface="Segoe UI"/>
              </a:rPr>
              <a:t>▸  Wilder, J. W. (1978). New Concepts in Technical Trading Systems. — base para ATR e RSI.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88696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Segoe UI"/>
              </a:rPr>
              <a:t>Ferramentas &amp; APIs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5577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E6EDF3"/>
                </a:solidFill>
                <a:latin typeface="Segoe UI"/>
              </a:rPr>
              <a:t>▸  Alpaca Markets API — docs.alpaca.markets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E6EDF3"/>
                </a:solidFill>
                <a:latin typeface="Segoe UI"/>
              </a:rPr>
              <a:t>▸  Scikit-learn — Pedregosa et al. (2011). JMLR, 12, 2825–2830.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E6EDF3"/>
                </a:solidFill>
                <a:latin typeface="Segoe UI"/>
              </a:rPr>
              <a:t>▸  Google Gemini Flash — ai.google.dev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E6EDF3"/>
                </a:solidFill>
                <a:latin typeface="Segoe UI"/>
              </a:rPr>
              <a:t>▸  Plotly.js — plotly.com/javascript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E6EDF3"/>
                </a:solidFill>
                <a:latin typeface="Segoe UI"/>
              </a:rPr>
              <a:t>▸  Railway Cloud Platform — railway.app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A251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88952" cy="19050"/>
          </a:xfrm>
          <a:prstGeom prst="rect">
            <a:avLst/>
          </a:prstGeom>
          <a:solidFill>
            <a:srgbClr val="3FB95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3796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FB950"/>
                </a:solidFill>
                <a:latin typeface="Segoe UI"/>
              </a:rPr>
              <a:t>💡  Todos os dados usados são históricos públicos via Alpaca — sem dados proprietários.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37076" y="1005840"/>
            <a:ext cx="4114800" cy="914400"/>
          </a:xfrm>
          <a:prstGeom prst="rect">
            <a:avLst/>
          </a:prstGeom>
          <a:solidFill>
            <a:srgbClr val="1A5C3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37076" y="100584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D1117"/>
                </a:solidFill>
                <a:latin typeface="Segoe UI"/>
              </a:rPr>
              <a:t>ISLA 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60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E6EDF3"/>
                </a:solidFill>
                <a:latin typeface="Segoe UI"/>
              </a:rPr>
              <a:t>Obrigado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8892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  <a:latin typeface="Segoe UI"/>
              </a:rPr>
              <a:t>Questões &amp; Discussão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726948" y="3218688"/>
            <a:ext cx="2560320" cy="9601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8" y="328269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B949E"/>
                </a:solidFill>
                <a:latin typeface="Segoe UI"/>
              </a:rPr>
              <a:t>Retorno 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8" y="34747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85149"/>
                </a:solidFill>
                <a:latin typeface="Segoe UI"/>
              </a:rPr>
              <a:t>−0.50%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" y="396849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  <a:latin typeface="Segoe UI"/>
              </a:rPr>
              <a:t>6 meses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1860" y="3218688"/>
            <a:ext cx="2560320" cy="9601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3300" y="328269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B949E"/>
                </a:solidFill>
                <a:latin typeface="Segoe UI"/>
              </a:rPr>
              <a:t>Buy &amp; Hold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3300" y="34747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85149"/>
                </a:solidFill>
                <a:latin typeface="Segoe UI"/>
              </a:rPr>
              <a:t>−10.74%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3300" y="396849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  <a:latin typeface="Segoe UI"/>
              </a:rPr>
              <a:t>BTC mesmo período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6772" y="3218688"/>
            <a:ext cx="2560320" cy="9601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8212" y="328269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B949E"/>
                </a:solidFill>
                <a:latin typeface="Segoe UI"/>
              </a:rPr>
              <a:t>Outperformance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8212" y="34747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FB950"/>
                </a:solidFill>
                <a:latin typeface="Segoe UI"/>
              </a:rPr>
              <a:t>+10.25%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8212" y="396849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  <a:latin typeface="Segoe UI"/>
              </a:rPr>
              <a:t>vantagem real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01684" y="3218688"/>
            <a:ext cx="2560320" cy="9601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93124" y="328269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B949E"/>
                </a:solidFill>
                <a:latin typeface="Segoe UI"/>
              </a:rPr>
              <a:t>Win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3124" y="34747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FB950"/>
                </a:solidFill>
                <a:latin typeface="Segoe UI"/>
              </a:rPr>
              <a:t>52.2%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3124" y="396849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  <a:latin typeface="Segoe UI"/>
              </a:rPr>
              <a:t>23 trades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343400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5C64"/>
                </a:solidFill>
                <a:latin typeface="Segoe UI"/>
              </a:rPr>
              <a:t>Raphael Malburg · André Neves · Vasco · Beatriz Ferreira
Engenharia de Software e IA · Março 2026
⚠ Projeto académico · Não é recomendação de investimento · Paper trading apenas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