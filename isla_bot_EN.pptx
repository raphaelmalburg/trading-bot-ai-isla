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A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731520" y="-731520"/>
            <a:ext cx="2286000" cy="2286000"/>
          </a:xfrm>
          <a:prstGeom prst="rect">
            <a:avLst/>
          </a:prstGeom>
          <a:solidFill>
            <a:srgbClr val="0E6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5303520"/>
            <a:ext cx="2286000" cy="2286000"/>
          </a:xfrm>
          <a:prstGeom prst="rect">
            <a:avLst/>
          </a:prstGeom>
          <a:solidFill>
            <a:srgbClr val="0E6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0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ISLA 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54680"/>
            <a:ext cx="3657600" cy="25400"/>
          </a:xfrm>
          <a:prstGeom prst="rect">
            <a:avLst/>
          </a:prstGeom>
          <a:solidFill>
            <a:srgbClr val="7FD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32918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ADE8C3"/>
                </a:solidFill>
                <a:latin typeface="Calibri"/>
              </a:rPr>
              <a:t>Algorithmic Trading with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38587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FD89F"/>
                </a:solidFill>
                <a:latin typeface="Calibri"/>
              </a:rPr>
              <a:t>BTC/USD  ·  Paper Trading  ·  Random Forest  ·  Gemini Flash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463040"/>
            <a:ext cx="6519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56D76"/>
                </a:solidFill>
                <a:latin typeface="Calibri"/>
              </a:rPr>
              <a:t>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719072"/>
            <a:ext cx="6519672" cy="1905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810512"/>
            <a:ext cx="6519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Raphael Malburg   André Neves   Vasco   Beatriz Ferreira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468880"/>
            <a:ext cx="3474720" cy="1905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80" y="2606040"/>
            <a:ext cx="6519672" cy="11430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2743200"/>
            <a:ext cx="6291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328"/>
                </a:solidFill>
                <a:latin typeface="Calibri"/>
              </a:rPr>
              <a:t>Software Engineering &amp; AI  ·  March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118104"/>
            <a:ext cx="6291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56D76"/>
                </a:solidFill>
                <a:latin typeface="Calibri"/>
              </a:rPr>
              <a:t>⚠️  Academic project · Not investment advice · Paper trading only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Motivation &amp;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" y="914400"/>
            <a:ext cx="3657600" cy="21031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5196" y="914400"/>
            <a:ext cx="3657600" cy="54864"/>
          </a:xfrm>
          <a:prstGeom prst="rect">
            <a:avLst/>
          </a:prstGeom>
          <a:solidFill>
            <a:srgbClr val="CF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" y="10515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F222E"/>
                </a:solidFill>
                <a:latin typeface="Calibri"/>
              </a:rPr>
              <a:t>24/7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" y="201168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56D76"/>
                </a:solidFill>
                <a:latin typeface="Calibri"/>
              </a:rPr>
              <a:t>Crypto markets never close—continuous human monitoring is impossible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5676" y="914400"/>
            <a:ext cx="3657600" cy="21031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5676" y="914400"/>
            <a:ext cx="3657600" cy="54864"/>
          </a:xfrm>
          <a:prstGeom prst="rect">
            <a:avLst/>
          </a:prstGeom>
          <a:solidFill>
            <a:srgbClr val="9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5676" y="10515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9A6700"/>
                </a:solidFill>
                <a:latin typeface="Calibri"/>
              </a:rPr>
              <a:t>≤70%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2836" y="201168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56D76"/>
                </a:solidFill>
                <a:latin typeface="Calibri"/>
              </a:rPr>
              <a:t>of individual traders lose money
due to emotional and inconsistent decisions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6156" y="914400"/>
            <a:ext cx="3657600" cy="21031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6156" y="914400"/>
            <a:ext cx="3657600" cy="54864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6156" y="10515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A7F37"/>
                </a:solidFill>
                <a:latin typeface="Calibri"/>
              </a:rPr>
              <a:t>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3316" y="201168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56D76"/>
                </a:solidFill>
                <a:latin typeface="Calibri"/>
              </a:rPr>
              <a:t>Rich historical data enables
pattern modelling without emotion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944368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7F37"/>
                </a:solidFill>
                <a:latin typeface="Calibri"/>
              </a:rPr>
              <a:t>RESEARCH QUESTION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200400"/>
            <a:ext cx="11365992" cy="1005840"/>
          </a:xfrm>
          <a:prstGeom prst="rect">
            <a:avLst/>
          </a:prstGeom>
          <a:solidFill>
            <a:srgbClr val="D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200400"/>
            <a:ext cx="63500" cy="100584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91840"/>
            <a:ext cx="1116482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328"/>
                </a:solidFill>
                <a:latin typeface="Calibri"/>
              </a:rPr>
              <a:t>Can we build an algorithmic system that identifies BTC/USD opportunities and outperforms Buy &amp; Hold, using 17 technical indicators and Machine Learning, with automatic risk management and a market sentiment gate?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F37"/>
                </a:solidFill>
                <a:latin typeface="Calibri"/>
              </a:rPr>
              <a:t>💡  The bot's edge is not being smarter—it's being consistent and disciplined.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The Solution — ISLA 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1F2328"/>
                </a:solidFill>
                <a:latin typeface="Calibri"/>
              </a:rPr>
              <a:t>▸  Algorithmic trading bot for BTC/USD via paper trading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328"/>
                </a:solidFill>
                <a:latin typeface="Calibri"/>
              </a:rPr>
              <a:t>▸  1H candles analysed with 17 technical indicators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328"/>
                </a:solidFill>
                <a:latin typeface="Calibri"/>
              </a:rPr>
              <a:t>▸  Random Forest predicts whether Take-Profit is hit before Stop-Loss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328"/>
                </a:solidFill>
                <a:latin typeface="Calibri"/>
              </a:rPr>
              <a:t>▸  Sentiment gate via Gemini Flash (OpenRouter) blocks bearish entries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328"/>
                </a:solidFill>
                <a:latin typeface="Calibri"/>
              </a:rPr>
              <a:t>▸  Exit watchdog every 10 s: SL (1×ATR), TP (2×ATR), max 12 candles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328"/>
                </a:solidFill>
                <a:latin typeface="Calibri"/>
              </a:rPr>
              <a:t>▸  Real-time web dashboard with Plotly.js charts (15 s polling)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822960"/>
            <a:ext cx="5148072" cy="82296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0" y="822960"/>
            <a:ext cx="63500" cy="82296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896112"/>
            <a:ext cx="4965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EXCHANGE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097280"/>
            <a:ext cx="4965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Calibri"/>
              </a:rPr>
              <a:t>Alpaca Markets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435608"/>
            <a:ext cx="4965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Paper trading, no real funds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755648"/>
            <a:ext cx="5148072" cy="82296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755648"/>
            <a:ext cx="63500" cy="82296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828800"/>
            <a:ext cx="4965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29968"/>
            <a:ext cx="4965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Calibri"/>
              </a:rPr>
              <a:t>Python · Flask · Scikit-learn · SQLite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688336"/>
            <a:ext cx="5148072" cy="82296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2688336"/>
            <a:ext cx="63500" cy="82296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2761488"/>
            <a:ext cx="4965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LLM / SENTIMENT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962656"/>
            <a:ext cx="4965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Calibri"/>
              </a:rPr>
              <a:t>Gemini Flash via OpenRouter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3621024"/>
            <a:ext cx="5148072" cy="82296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3621024"/>
            <a:ext cx="63500" cy="82296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3694176"/>
            <a:ext cx="4965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ASSET / TIMEFRAME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895344"/>
            <a:ext cx="4965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Calibri"/>
              </a:rPr>
              <a:t>BTC/USD  ·  1H candles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969DA"/>
                </a:solidFill>
                <a:latin typeface="Calibri"/>
              </a:rPr>
              <a:t>💡  End-to-end pipeline: data → ML → sentiment → risk → order on exchange.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4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9552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DATA SOURCES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987552"/>
            <a:ext cx="5628132" cy="896112"/>
          </a:xfrm>
          <a:prstGeom prst="rect">
            <a:avLst/>
          </a:prstGeom>
          <a:solidFill>
            <a:srgbClr val="F6F8F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987552"/>
            <a:ext cx="5628132" cy="5080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78992"/>
            <a:ext cx="5490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969DA"/>
                </a:solidFill>
                <a:latin typeface="Calibri"/>
              </a:rPr>
              <a:t>Alpaca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35024"/>
            <a:ext cx="54909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OHLCV Candles · Orders · Account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9340" y="987552"/>
            <a:ext cx="5628132" cy="896112"/>
          </a:xfrm>
          <a:prstGeom prst="rect">
            <a:avLst/>
          </a:prstGeom>
          <a:solidFill>
            <a:srgbClr val="F6F8FA"/>
          </a:solidFill>
          <a:ln w="12700">
            <a:solidFill>
              <a:srgbClr val="9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9340" y="987552"/>
            <a:ext cx="5628132" cy="50800"/>
          </a:xfrm>
          <a:prstGeom prst="rect">
            <a:avLst/>
          </a:prstGeom>
          <a:solidFill>
            <a:srgbClr val="9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0780" y="1078992"/>
            <a:ext cx="5490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A6700"/>
                </a:solidFill>
                <a:latin typeface="Calibri"/>
              </a:rPr>
              <a:t>OpenRouter / Gemini 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0780" y="1335024"/>
            <a:ext cx="54909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LLM market sentiment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1596" y="189280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7DE"/>
                </a:solidFill>
                <a:latin typeface="Calibri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148840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CORE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340864"/>
            <a:ext cx="2185416" cy="89611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340864"/>
            <a:ext cx="2185416" cy="5080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432304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328"/>
                </a:solidFill>
                <a:latin typeface="Calibri"/>
              </a:rPr>
              <a:t>src/data.py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88336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Fetch + 17 indicators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6624" y="2340864"/>
            <a:ext cx="2185416" cy="896112"/>
          </a:xfrm>
          <a:prstGeom prst="rect">
            <a:avLst/>
          </a:prstGeom>
          <a:solidFill>
            <a:srgbClr val="F6F8F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06624" y="2340864"/>
            <a:ext cx="2185416" cy="5080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98064" y="2432304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969DA"/>
                </a:solidFill>
                <a:latin typeface="Calibri"/>
              </a:rPr>
              <a:t>src/model.py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98064" y="2688336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Random Forest · predict_proba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01768" y="2340864"/>
            <a:ext cx="2185416" cy="89611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01768" y="2340864"/>
            <a:ext cx="2185416" cy="5080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93208" y="2432304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328"/>
                </a:solidFill>
                <a:latin typeface="Calibri"/>
              </a:rPr>
              <a:t>src/trading.py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8" y="2688336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Orchestration + Sentiment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340864"/>
            <a:ext cx="2185416" cy="89611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340864"/>
            <a:ext cx="2185416" cy="5080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88352" y="2432304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328"/>
                </a:solidFill>
                <a:latin typeface="Calibri"/>
              </a:rPr>
              <a:t>src/strategy.py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352" y="2688336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Sizing · SL/TP · Circuit Breaker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92056" y="2340864"/>
            <a:ext cx="2185416" cy="896112"/>
          </a:xfrm>
          <a:prstGeom prst="rect">
            <a:avLst/>
          </a:prstGeom>
          <a:solidFill>
            <a:srgbClr val="F6F8FA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340864"/>
            <a:ext cx="2185416" cy="5080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83496" y="2432304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src/broker.py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2688336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Alpaca: orders + positions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11596" y="3246120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7DE"/>
                </a:solidFill>
                <a:latin typeface="Calibri"/>
              </a:rPr>
              <a:t>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35021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ORCHESTRATION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694176"/>
            <a:ext cx="5628132" cy="896112"/>
          </a:xfrm>
          <a:prstGeom prst="rect">
            <a:avLst/>
          </a:prstGeom>
          <a:solidFill>
            <a:srgbClr val="F6F8F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3694176"/>
            <a:ext cx="5628132" cy="5080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785616"/>
            <a:ext cx="5490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969DA"/>
                </a:solidFill>
                <a:latin typeface="Calibri"/>
              </a:rPr>
              <a:t>src/app.py (Flask)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041648"/>
            <a:ext cx="54909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bot_loop (1H) · exit_watchdog (10 s) · REST API · Threads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49340" y="3694176"/>
            <a:ext cx="5628132" cy="89611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9340" y="3694176"/>
            <a:ext cx="5628132" cy="5080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40780" y="3785616"/>
            <a:ext cx="5490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328"/>
                </a:solidFill>
                <a:latin typeface="Calibri"/>
              </a:rPr>
              <a:t>SQLite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40780" y="4041648"/>
            <a:ext cx="54909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runs · trades · equity history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11596" y="459943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7DE"/>
                </a:solidFill>
                <a:latin typeface="Calibri"/>
              </a:rPr>
              <a:t>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4855464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INTERFACE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5047488"/>
            <a:ext cx="11365992" cy="896112"/>
          </a:xfrm>
          <a:prstGeom prst="rect">
            <a:avLst/>
          </a:prstGeom>
          <a:solidFill>
            <a:srgbClr val="F6F8FA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5047488"/>
            <a:ext cx="11365992" cy="5080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138928"/>
            <a:ext cx="11228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Web 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394960"/>
            <a:ext cx="11228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Jinja2 · Plotly.js · 15 s polling · Kill switch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969DA"/>
                </a:solidFill>
                <a:latin typeface="Calibri"/>
              </a:rPr>
              <a:t>💡  Two background threads: bot_loop (1H) and exit_watchdog (10 s)—Flask server never blocks.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Machine Learning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5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7F37"/>
                </a:solidFill>
                <a:latin typeface="Calibri"/>
              </a:rPr>
              <a:t>MODEL OBJECTIVE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42415"/>
            <a:ext cx="5486400" cy="731520"/>
          </a:xfrm>
          <a:prstGeom prst="rect">
            <a:avLst/>
          </a:prstGeom>
          <a:solidFill>
            <a:srgbClr val="D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42415"/>
            <a:ext cx="63500" cy="73152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33855"/>
            <a:ext cx="52852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328"/>
                </a:solidFill>
                <a:latin typeface="Calibri"/>
              </a:rPr>
              <a:t>"Will Take-Profit (2×ATR) be hit before Stop-Loss (1×ATR) in the next 12 candles?"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74519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969DA"/>
                </a:solidFill>
                <a:latin typeface="Calibri"/>
              </a:rPr>
              <a:t>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10312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Random Forest · 200 trees · max depth 8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StandardScaler on all 17 features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Walk-forward validation — TimeSeriesSplit 5 folds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No temporal data leakage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Train: 6,967 samples  ·  Test: 1,742 samples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75887"/>
            <a:ext cx="5486400" cy="640080"/>
          </a:xfrm>
          <a:prstGeom prst="rect">
            <a:avLst/>
          </a:prstGeom>
          <a:solidFill>
            <a:srgbClr val="D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675887"/>
            <a:ext cx="63500" cy="64008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67327"/>
            <a:ext cx="52852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Volume (OBV) and volatility (ATR, BB) dominate—where there is volume and expansion there is movement.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822960"/>
            <a:ext cx="5788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7F37"/>
                </a:solidFill>
                <a:latin typeface="Calibri"/>
              </a:rPr>
              <a:t>TOP FEATURES (IMPORTANCE)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042415"/>
            <a:ext cx="578815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097279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56D76"/>
                </a:solidFill>
                <a:latin typeface="Calibri"/>
              </a:rPr>
              <a:t>#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097279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56D76"/>
                </a:solidFill>
                <a:latin typeface="Calibri"/>
              </a:rPr>
              <a:t>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097279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56D76"/>
                </a:solidFill>
                <a:latin typeface="Calibri"/>
              </a:rPr>
              <a:t>Weight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389887"/>
            <a:ext cx="578815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444751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444751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OBV (On-Balance Volume)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1444751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11.9 %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737359"/>
            <a:ext cx="57881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792223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1792223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ATR-14 (volatility)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1792223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10.0 %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084831"/>
            <a:ext cx="578815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139695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139695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EMA-20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2139695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9.6 %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2432303"/>
            <a:ext cx="57881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2487167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487167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EMA-50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2487167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A6700"/>
                </a:solidFill>
                <a:latin typeface="Calibri"/>
              </a:rPr>
              <a:t>8.9 %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779775"/>
            <a:ext cx="578815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2834639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2834639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BB 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2834639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A6700"/>
                </a:solidFill>
                <a:latin typeface="Calibri"/>
              </a:rPr>
              <a:t>8.6 %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127247"/>
            <a:ext cx="57881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3182111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3182111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BB 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2680" y="3182111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56D76"/>
                </a:solidFill>
                <a:latin typeface="Calibri"/>
              </a:rPr>
              <a:t>7.9 %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3474719"/>
            <a:ext cx="578815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529583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3529583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BB Width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3529583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56D76"/>
                </a:solidFill>
                <a:latin typeface="Calibri"/>
              </a:rPr>
              <a:t>7.8 %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969DA"/>
                </a:solidFill>
                <a:latin typeface="Calibri"/>
              </a:rPr>
              <a:t>💡  Walk-forward ensures each prediction uses only past data—as in a real live operation.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Decision Pipeline — Every 1H candle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6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04672"/>
            <a:ext cx="50800" cy="219456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80467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969DA"/>
                </a:solidFill>
                <a:latin typeface="Calibri"/>
              </a:rPr>
              <a:t>ANALYSIS (STEPS 1–5)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42415"/>
            <a:ext cx="562356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34439"/>
            <a:ext cx="274320" cy="2743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344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56D76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115567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328"/>
                </a:solidFill>
                <a:latin typeface="Calibri"/>
              </a:rPr>
              <a:t>Fetch Market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371599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90 days · 1H · ~2,160 BTC/USD bars via Alpaca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792223"/>
            <a:ext cx="562356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984247"/>
            <a:ext cx="274320" cy="2743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98424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56D76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865375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328"/>
                </a:solidFill>
                <a:latin typeface="Calibri"/>
              </a:rPr>
              <a:t>Feature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121407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RSI-14, MACD, EMA-20/50, BB, ATR-14, OBV + 11 more (17 total)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542031"/>
            <a:ext cx="562356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734055"/>
            <a:ext cx="274320" cy="274320"/>
          </a:xfrm>
          <a:prstGeom prst="rect">
            <a:avLst/>
          </a:prstGeom>
          <a:solidFill>
            <a:srgbClr val="DBEDFF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73405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969D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615183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328"/>
                </a:solidFill>
                <a:latin typeface="Calibri"/>
              </a:rPr>
              <a:t>ML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871215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P(TP before SL in 12H) ≥ 55% → LONG · else → FLAT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291839"/>
            <a:ext cx="562356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483863"/>
            <a:ext cx="274320" cy="2743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48386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56D76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364991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328"/>
                </a:solidFill>
                <a:latin typeface="Calibri"/>
              </a:rPr>
              <a:t>Drift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621023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Avg confidence of last 30 runs &lt; 50% → drift warning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041647"/>
            <a:ext cx="562356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233671"/>
            <a:ext cx="274320" cy="2743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23367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56D76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114799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328"/>
                </a:solidFill>
                <a:latin typeface="Calibri"/>
              </a:rPr>
              <a:t>Sentiment Gate + Circuit Breaker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370831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Gemini score ≤ −0.5 blocks entry · daily loss &gt; 10% halts trading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804672"/>
            <a:ext cx="50800" cy="219456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80467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7F37"/>
                </a:solidFill>
                <a:latin typeface="Calibri"/>
              </a:rPr>
              <a:t>EXECUTION (STEPS 6–8)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1042415"/>
            <a:ext cx="562356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1234439"/>
            <a:ext cx="274320" cy="2743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12344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56D76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1115567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328"/>
                </a:solidFill>
                <a:latin typeface="Calibri"/>
              </a:rPr>
              <a:t>Position Sizing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1371599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equity × 5% ÷ stop_pct  ·  stop_pct = 1×ATR / price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1792223"/>
            <a:ext cx="562356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1984247"/>
            <a:ext cx="274320" cy="274320"/>
          </a:xfrm>
          <a:prstGeom prst="rect">
            <a:avLst/>
          </a:prstGeom>
          <a:solidFill>
            <a:srgbClr val="DFF0E5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198424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7F37"/>
                </a:solidFill>
                <a:latin typeface="Calibr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1865375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328"/>
                </a:solidFill>
                <a:latin typeface="Calibri"/>
              </a:rPr>
              <a:t>Market BUY + Disaster Stop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2121407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Market order + stop-limit at 3×ATR (crash safety net)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2542031"/>
            <a:ext cx="562356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2734055"/>
            <a:ext cx="274320" cy="274320"/>
          </a:xfrm>
          <a:prstGeom prst="rect">
            <a:avLst/>
          </a:prstGeom>
          <a:solidFill>
            <a:srgbClr val="DFF0E5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273405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7F37"/>
                </a:solidFill>
                <a:latin typeface="Calibr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2615183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328"/>
                </a:solidFill>
                <a:latin typeface="Calibri"/>
              </a:rPr>
              <a:t>Exit Watchdog — every 10 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2871215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SL (1×ATR) · TP (2×ATR) · max 12H · signal flip → close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3383279"/>
            <a:ext cx="5623560" cy="640080"/>
          </a:xfrm>
          <a:prstGeom prst="rect">
            <a:avLst/>
          </a:prstGeom>
          <a:solidFill>
            <a:srgbClr val="D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72200" y="3383279"/>
            <a:ext cx="63500" cy="64008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474719"/>
            <a:ext cx="54223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328"/>
                </a:solidFill>
                <a:latin typeface="Calibri"/>
              </a:rPr>
              <a:t>The watchdog runs every 10 s in background and is independent of the exchange—eliminates orphaned orders and allows exits based on any condition.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F37"/>
                </a:solidFill>
                <a:latin typeface="Calibri"/>
              </a:rPr>
              <a:t>💡  The bot enters rarely and exits fast—selectivity is the main source of edge.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Risk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7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22960"/>
            <a:ext cx="5623560" cy="20116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326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libri"/>
              </a:rPr>
              <a:t>🟢🔴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98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2328"/>
                </a:solidFill>
                <a:latin typeface="Calibri"/>
              </a:rPr>
              <a:t>SL (1×ATR) and TP (2×ATR)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00784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Risk/reward ratio of 2:1. Managed by exit watchdog every 10 s—not by exchange orders. One winning trade covers two losers.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822960"/>
            <a:ext cx="5623560" cy="20116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9326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libri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898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2328"/>
                </a:solidFill>
                <a:latin typeface="Calibri"/>
              </a:rPr>
              <a:t>Circuit Breaker + Max 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700784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Blocks new trades if daily loss exceeds 10% of capital. Automatically closes position after 12 candles (12H) even without SL/TP.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71800"/>
            <a:ext cx="5623560" cy="20116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815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libri"/>
              </a:rP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2328"/>
                </a:solidFill>
                <a:latin typeface="Calibri"/>
              </a:rPr>
              <a:t>Disaster Stop (3×ATR)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49624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Stop-limit placed on Alpaca at 3×ATR below entry. Fires only if the server crashes. Protects against catastrophic loss without interfering with normal exits.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971800"/>
            <a:ext cx="5623560" cy="20116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0815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libri"/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5387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2328"/>
                </a:solidFill>
                <a:latin typeface="Calibri"/>
              </a:rPr>
              <a:t>Position Sizing (fixed 5%)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849624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Fixed risk of 5% of capital per trade, adjusted by volatility (ATR). Kelly Criterion was tested—it does not improve results with a negative per-trade edge.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F37"/>
                </a:solidFill>
                <a:latin typeface="Calibri"/>
              </a:rPr>
              <a:t>💡  Two protection layers: app-side (real logic) + exchange-side (safety net)—resilient to failures.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Model Metrics (20% holdout)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8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822960"/>
            <a:ext cx="2697480" cy="102412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91440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09728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7F37"/>
                </a:solidFill>
                <a:latin typeface="Calibri"/>
              </a:rPr>
              <a:t>67.9%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572768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correct predictions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6" y="822960"/>
            <a:ext cx="2697480" cy="102412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91440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109728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A6700"/>
                </a:solidFill>
                <a:latin typeface="Calibri"/>
              </a:rPr>
              <a:t>23.6%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572768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real win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822960"/>
            <a:ext cx="2697480" cy="102412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91440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109728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A6700"/>
                </a:solidFill>
                <a:latin typeface="Calibri"/>
              </a:rPr>
              <a:t>10.9%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1572768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opportunities captured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7696" y="822960"/>
            <a:ext cx="2697480" cy="102412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07424" y="91440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F1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109728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56D76"/>
                </a:solidFill>
                <a:latin typeface="Calibri"/>
              </a:rPr>
              <a:t>0.149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572768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P × R balanced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029968"/>
            <a:ext cx="562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969DA"/>
                </a:solidFill>
                <a:latin typeface="Calibri"/>
              </a:rPr>
              <a:t>WHAT THESE NUMBERS MEAN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2258568"/>
            <a:ext cx="5623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68% accuracy comes from correctly predicting the dominant FLAT class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Precision 23.6%: bot wins ~1 out of every 4 trades it opens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Break-even for RR 2:1 is 33.3%—we are below the per-trade profit threshold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Low recall = rare entries = highly selective bot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029968"/>
            <a:ext cx="5742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969DA"/>
                </a:solidFill>
                <a:latin typeface="Calibri"/>
              </a:rPr>
              <a:t>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2258568"/>
            <a:ext cx="574243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31343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56D76"/>
                </a:solidFill>
                <a:latin typeface="Calibri"/>
              </a:rPr>
              <a:t>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31343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56D76"/>
                </a:solidFill>
                <a:latin typeface="Calibri"/>
              </a:rPr>
              <a:t>Value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2606040"/>
            <a:ext cx="574243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2660904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Train samples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2660904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6,967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2953512"/>
            <a:ext cx="57424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008376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Test samples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3008376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1,742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300984"/>
            <a:ext cx="574243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3355848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Features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3355848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17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3648456"/>
            <a:ext cx="57424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370332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RF trees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370332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200 · max_depth 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3995928"/>
            <a:ext cx="574243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405079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405079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Walk-forward 5 folds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F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9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A6700"/>
                </a:solidFill>
                <a:latin typeface="Calibri"/>
              </a:rPr>
              <a:t>💡  Precision below 33.3% = negative per-trade edge—the gain comes from selectivity, not precision.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Results — 6-Month Walk-Forward Backtest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04672"/>
            <a:ext cx="5029200" cy="2743200"/>
          </a:xfrm>
          <a:prstGeom prst="rect">
            <a:avLst/>
          </a:prstGeom>
          <a:solidFill>
            <a:srgbClr val="DFF0E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804672"/>
            <a:ext cx="5029200" cy="5080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896112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7F37"/>
                </a:solidFill>
                <a:latin typeface="Calibri"/>
              </a:rPr>
              <a:t>OUTPERFORMANCE VS BUY &amp; 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115568"/>
            <a:ext cx="5029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A7F37"/>
                </a:solidFill>
                <a:latin typeface="Calibri"/>
              </a:rPr>
              <a:t>+10.25%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871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56D76"/>
                </a:solidFill>
                <a:latin typeface="Calibri"/>
              </a:rPr>
              <a:t>strategy −0.50%  ·  buy &amp; hold −10.74%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807208"/>
            <a:ext cx="2423160" cy="8686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289864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WIN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3081528"/>
            <a:ext cx="2240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7F37"/>
                </a:solidFill>
                <a:latin typeface="Calibri"/>
              </a:rPr>
              <a:t>52.2%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3401568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12 of 23 trades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807208"/>
            <a:ext cx="2423160" cy="8686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5808" y="289864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TRADES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3081528"/>
            <a:ext cx="2240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328"/>
                </a:solidFill>
                <a:latin typeface="Calibri"/>
              </a:rPr>
              <a:t>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401568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6 months  ·  1H candles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804672"/>
            <a:ext cx="624535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859536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56D76"/>
                </a:solidFill>
                <a:latin typeface="Calibri"/>
              </a:rPr>
              <a:t>Metric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859536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56D76"/>
                </a:solidFill>
                <a:latin typeface="Calibri"/>
              </a:rPr>
              <a:t>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152144"/>
            <a:ext cx="624535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207008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207008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F222E"/>
                </a:solidFill>
                <a:latin typeface="Calibri"/>
              </a:rPr>
              <a:t>−12.34%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1499616"/>
            <a:ext cx="62453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155448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Profit Factor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155448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1.05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1847088"/>
            <a:ext cx="624535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190195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Avg Win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190195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+$1.23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2194560"/>
            <a:ext cx="62453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2249424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Avg Loss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249424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222E"/>
                </a:solidFill>
                <a:latin typeface="Calibri"/>
              </a:rPr>
              <a:t>−$1.28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2542032"/>
            <a:ext cx="624535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2596896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Sharpe Ratio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596896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6700"/>
                </a:solidFill>
                <a:latin typeface="Calibri"/>
              </a:rPr>
              <a:t>−0.05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2743200"/>
            <a:ext cx="6245352" cy="914400"/>
          </a:xfrm>
          <a:prstGeom prst="rect">
            <a:avLst/>
          </a:prstGeom>
          <a:solidFill>
            <a:srgbClr val="FFF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0" y="2743200"/>
            <a:ext cx="63500" cy="914400"/>
          </a:xfrm>
          <a:prstGeom prst="rect">
            <a:avLst/>
          </a:prstGeom>
          <a:solidFill>
            <a:srgbClr val="9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6440" y="2834640"/>
            <a:ext cx="604418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328"/>
                </a:solidFill>
                <a:latin typeface="Calibri"/>
              </a:rPr>
              <a:t>Strongly bearish period for BTC (−10.7%). The bot preserved capital by staying mostly FLAT—the advantage comes from NOT losing, not from big gains.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F37"/>
                </a:solidFill>
                <a:latin typeface="Calibri"/>
              </a:rPr>
              <a:t>💡  In a bear market, not losing is already winning—the bot outperformed the benchmark by +10.25%.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Real-Time Web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10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F2328"/>
                </a:solidFill>
                <a:latin typeface="Calibri"/>
              </a:rPr>
              <a:t>▸  BTC price and bot signal updated every 15 s without page refresh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328"/>
                </a:solidFill>
                <a:latin typeface="Calibri"/>
              </a:rPr>
              <a:t>▸  Interactive candlestick chart with zoom, pan and scroll (TradingView-style)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328"/>
                </a:solidFill>
                <a:latin typeface="Calibri"/>
              </a:rPr>
              <a:t>▸  SL and TP lines overlaid on the chart with live price labels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328"/>
                </a:solidFill>
                <a:latin typeface="Calibri"/>
              </a:rPr>
              <a:t>▸  RSI-14 and MACD synchronised with the main chart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328"/>
                </a:solidFill>
                <a:latin typeface="Calibri"/>
              </a:rPr>
              <a:t>▸  Kill switch to close all positions immediately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328"/>
                </a:solidFill>
                <a:latin typeface="Calibri"/>
              </a:rPr>
              <a:t>▸  Backtest section: 6-month equity curve + log of all 23 trades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328"/>
                </a:solidFill>
                <a:latin typeface="Calibri"/>
              </a:rPr>
              <a:t>▸  ML metrics + interactive feature importance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822960"/>
            <a:ext cx="5193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56D76"/>
                </a:solidFill>
                <a:latin typeface="Calibri"/>
              </a:rPr>
              <a:t>POLLING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1042415"/>
            <a:ext cx="5193792" cy="402336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115567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969DA"/>
                </a:solidFill>
                <a:latin typeface="Calibri"/>
              </a:rPr>
              <a:t>15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133855"/>
            <a:ext cx="4462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price + position + SL/TP lines on chart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499615"/>
            <a:ext cx="5193792" cy="402336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572767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969DA"/>
                </a:solidFill>
                <a:latin typeface="Calibri"/>
              </a:rPr>
              <a:t>30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591055"/>
            <a:ext cx="4462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ML signal + trades + full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084831"/>
            <a:ext cx="5193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56D76"/>
                </a:solidFill>
                <a:latin typeface="Calibri"/>
              </a:rPr>
              <a:t>REST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2304288"/>
            <a:ext cx="5193792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235915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7F37"/>
                </a:solidFill>
                <a:latin typeface="Calibri"/>
              </a:rP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4072" y="236829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/api/live_stats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2688336"/>
            <a:ext cx="5193792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274320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7F37"/>
                </a:solidFill>
                <a:latin typeface="Calibri"/>
              </a:rP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2752344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/api/dashboard_data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3072384"/>
            <a:ext cx="5193792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12724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7F37"/>
                </a:solidFill>
                <a:latin typeface="Calibri"/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2" y="3136392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/api/showcase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3456432"/>
            <a:ext cx="5193792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351129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F222E"/>
                </a:solidFill>
                <a:latin typeface="Calibri"/>
              </a:rPr>
              <a:t>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072" y="352044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/api/kill_switch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0840" y="3913632"/>
            <a:ext cx="5193792" cy="594360"/>
          </a:xfrm>
          <a:prstGeom prst="rect">
            <a:avLst/>
          </a:prstGeom>
          <a:solidFill>
            <a:srgbClr val="D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20840" y="3913632"/>
            <a:ext cx="63500" cy="59436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4005072"/>
            <a:ext cx="499262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328"/>
                </a:solidFill>
                <a:latin typeface="Calibri"/>
              </a:rPr>
              <a:t>No WebSockets—async polling with fetch(). Plotly.js updates charts in-place, preserving user zoom.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969DA"/>
                </a:solidFill>
                <a:latin typeface="Calibri"/>
              </a:rPr>
              <a:t>💡  One page shows everything—the dashboard is the bot's cockpit.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Methodology &amp;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11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969DA"/>
                </a:solidFill>
                <a:latin typeface="Calibri"/>
              </a:rPr>
              <a:t>DEVELOPMENT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5156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Iterative approach: weekly build → test → backtest → refine cycles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Version control via Git—atomic commits per feature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Integration tests with real Alpaca data (paper trading)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Walk-forward backtest as acceptance criterion for each model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Continuous deployment on Railway—dashboard always accessible to the team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816352"/>
            <a:ext cx="5486400" cy="658368"/>
          </a:xfrm>
          <a:prstGeom prst="rect">
            <a:avLst/>
          </a:prstGeom>
          <a:solidFill>
            <a:srgbClr val="D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816352"/>
            <a:ext cx="63500" cy="65836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07792"/>
            <a:ext cx="52852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No feature considered done without a backtest validating equal or better metrics than the previous iteration.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822960"/>
            <a:ext cx="583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969DA"/>
                </a:solidFill>
                <a:latin typeface="Calibri"/>
              </a:rPr>
              <a:t>CONTRIBUTIONS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051560"/>
            <a:ext cx="5833872" cy="7132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051560"/>
            <a:ext cx="63500" cy="71323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143000"/>
            <a:ext cx="5650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328"/>
                </a:solidFill>
                <a:latin typeface="Calibri"/>
              </a:rPr>
              <a:t>Raphael Malburg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417320"/>
            <a:ext cx="5650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56D76"/>
                </a:solidFill>
                <a:latin typeface="Calibri"/>
              </a:rPr>
              <a:t>Architecture · Flask API · Dashboard · Railway Deploy · Alpaca Integration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856232"/>
            <a:ext cx="5833872" cy="7132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856232"/>
            <a:ext cx="63500" cy="71323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947672"/>
            <a:ext cx="5650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328"/>
                </a:solidFill>
                <a:latin typeface="Calibri"/>
              </a:rPr>
              <a:t>André Neves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221992"/>
            <a:ext cx="5650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56D76"/>
                </a:solidFill>
                <a:latin typeface="Calibri"/>
              </a:rPr>
              <a:t>ML Pipeline · Feature engineering · Backtesting · Metrics 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2660904"/>
            <a:ext cx="5833872" cy="7132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2660904"/>
            <a:ext cx="63500" cy="71323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752344"/>
            <a:ext cx="5650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328"/>
                </a:solidFill>
                <a:latin typeface="Calibri"/>
              </a:rPr>
              <a:t>Vasco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026664"/>
            <a:ext cx="5650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56D76"/>
                </a:solidFill>
                <a:latin typeface="Calibri"/>
              </a:rPr>
              <a:t>Risk management · Exit watchdog · Kelly Criterion analysis · Position sizing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465576"/>
            <a:ext cx="5833872" cy="7132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3465576"/>
            <a:ext cx="63500" cy="71323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557016"/>
            <a:ext cx="5650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328"/>
                </a:solidFill>
                <a:latin typeface="Calibri"/>
              </a:rPr>
              <a:t>Beatriz Ferreira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831336"/>
            <a:ext cx="5650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56D76"/>
                </a:solidFill>
                <a:latin typeface="Calibri"/>
              </a:rPr>
              <a:t>Gemini/sentiment integration · Integration tests · Documentation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969DA"/>
                </a:solidFill>
                <a:latin typeface="Calibri"/>
              </a:rPr>
              <a:t>💡  Each module was developed and tested independently—failures identified early.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Conclusions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12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7F37"/>
                </a:solidFill>
                <a:latin typeface="Calibri"/>
              </a:rPr>
              <a:t>WHAT WE ACHIEVED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42415"/>
            <a:ext cx="3657600" cy="3810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15568"/>
            <a:ext cx="3657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+10.25% outperformance vs Buy &amp; Hold in a bearish period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Complete end-to-end pipeline with 8 decision layers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Robust exit management: 10 s watchdog + 3×ATR disaster stop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Professional dashboard with real-time updates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24/7 operational deployment on Railway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8229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F222E"/>
                </a:solidFill>
                <a:latin typeface="Calibri"/>
              </a:rPr>
              <a:t>CURRENT LIMITATIONS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042415"/>
            <a:ext cx="3657600" cy="38100"/>
          </a:xfrm>
          <a:prstGeom prst="rect">
            <a:avLst/>
          </a:prstGeom>
          <a:solidFill>
            <a:srgbClr val="CF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115568"/>
            <a:ext cx="3657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Precision 23.6%—below break-even threshold of 33.3% (RR 2:1)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Only 23 trades in 6 months—low signal frequency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Kelly Criterion not applicable without positive per-trade edge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Paper trading—real slippage may be higher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8229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969DA"/>
                </a:solidFill>
                <a:latin typeface="Calibri"/>
              </a:rPr>
              <a:t>NEXT STEPS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042415"/>
            <a:ext cx="3657600" cy="3810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1115568"/>
            <a:ext cx="3657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Replace RF with XGBoost / LightGBM—better for financial time series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Raise confidence threshold to ≥ 65%—fewer trades, higher precision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Add funding rates and open interest as features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Trailing stop to lock in profits during extended trends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Real-time alerts via Telegram / Discord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337560"/>
            <a:ext cx="11365992" cy="731520"/>
          </a:xfrm>
          <a:prstGeom prst="rect">
            <a:avLst/>
          </a:prstGeom>
          <a:solidFill>
            <a:srgbClr val="D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337560"/>
            <a:ext cx="63500" cy="73152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29000"/>
            <a:ext cx="111648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328"/>
                </a:solidFill>
                <a:latin typeface="Calibri"/>
              </a:rPr>
              <a:t>The bot demonstrates that intelligent selectivity—staying FLAT most of the time—can outperform Buy &amp; Hold in bear markets. The value lies in the absence of bad trades, not in the quality of each individual trade.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F37"/>
                </a:solidFill>
                <a:latin typeface="Calibri"/>
              </a:rPr>
              <a:t>💡  One step at a time: precision &gt; 33% first, then Kelly, then real capital.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A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389120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ISLA 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14600"/>
            <a:ext cx="3383280" cy="25400"/>
          </a:xfrm>
          <a:prstGeom prst="rect">
            <a:avLst/>
          </a:prstGeom>
          <a:solidFill>
            <a:srgbClr val="7FD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633472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3101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DE8C3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188720"/>
            <a:ext cx="3511296" cy="9144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188720"/>
            <a:ext cx="3511296" cy="5080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261872"/>
            <a:ext cx="35112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7F37"/>
                </a:solidFill>
                <a:latin typeface="Calibri"/>
              </a:rPr>
              <a:t>+10.25%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792224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56D76"/>
                </a:solidFill>
                <a:latin typeface="Calibri"/>
              </a:rPr>
              <a:t>Outperformance vs B&amp;H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03336" y="1188720"/>
            <a:ext cx="3511296" cy="9144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03336" y="1188720"/>
            <a:ext cx="3511296" cy="50800"/>
          </a:xfrm>
          <a:prstGeom prst="rect">
            <a:avLst/>
          </a:prstGeom>
          <a:solidFill>
            <a:srgbClr val="CF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1261872"/>
            <a:ext cx="35112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F222E"/>
                </a:solidFill>
                <a:latin typeface="Calibri"/>
              </a:rPr>
              <a:t>−0.50%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1792224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56D76"/>
                </a:solidFill>
                <a:latin typeface="Calibri"/>
              </a:rPr>
              <a:t>Strategy return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240280"/>
            <a:ext cx="3511296" cy="9144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2240280"/>
            <a:ext cx="3511296" cy="50800"/>
          </a:xfrm>
          <a:prstGeom prst="rect">
            <a:avLst/>
          </a:prstGeom>
          <a:solidFill>
            <a:srgbClr val="CF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313432"/>
            <a:ext cx="35112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F222E"/>
                </a:solidFill>
                <a:latin typeface="Calibri"/>
              </a:rPr>
              <a:t>−10.74%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843784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56D76"/>
                </a:solidFill>
                <a:latin typeface="Calibri"/>
              </a:rPr>
              <a:t>Buy &amp; Hold BTC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3336" y="2240280"/>
            <a:ext cx="3511296" cy="9144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03336" y="2240280"/>
            <a:ext cx="3511296" cy="5080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6" y="2313432"/>
            <a:ext cx="35112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7F37"/>
                </a:solidFill>
                <a:latin typeface="Calibri"/>
              </a:rPr>
              <a:t>52.2%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2843784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56D76"/>
                </a:solidFill>
                <a:latin typeface="Calibri"/>
              </a:rPr>
              <a:t>Win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246120"/>
            <a:ext cx="7159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F2328"/>
                </a:solidFill>
                <a:latin typeface="Calibri"/>
              </a:rPr>
              <a:t>Raphael Malburg  ·  André Neves  ·  Vasco  ·  Beatriz Ferreira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566160"/>
            <a:ext cx="7159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56D76"/>
                </a:solidFill>
                <a:latin typeface="Calibri"/>
              </a:rPr>
              <a:t>Software Engineering &amp; AI  ·  March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886200"/>
            <a:ext cx="7159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56D76"/>
                </a:solidFill>
                <a:latin typeface="Calibri"/>
              </a:rPr>
              <a:t>⚠️  Academic project · Not investment advice · Paper trading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D89F"/>
                </a:solidFill>
                <a:latin typeface="Calibri"/>
              </a:rPr>
              <a:t>ISLA Bot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