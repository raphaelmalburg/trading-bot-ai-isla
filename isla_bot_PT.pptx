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A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731520" y="-731520"/>
            <a:ext cx="2286000" cy="2286000"/>
          </a:xfrm>
          <a:prstGeom prst="rect">
            <a:avLst/>
          </a:prstGeom>
          <a:solidFill>
            <a:srgbClr val="0E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5303520"/>
            <a:ext cx="2286000" cy="2286000"/>
          </a:xfrm>
          <a:prstGeom prst="rect">
            <a:avLst/>
          </a:prstGeom>
          <a:solidFill>
            <a:srgbClr val="0E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ISLA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54680"/>
            <a:ext cx="3657600" cy="25400"/>
          </a:xfrm>
          <a:prstGeom prst="rect">
            <a:avLst/>
          </a:prstGeom>
          <a:solidFill>
            <a:srgbClr val="7FD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32918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ADE8C3"/>
                </a:solidFill>
                <a:latin typeface="Calibri"/>
              </a:rPr>
              <a:t>Trading Algorítmico com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858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FD89F"/>
                </a:solidFill>
                <a:latin typeface="Calibri"/>
              </a:rPr>
              <a:t>BTC/USD  ·  Paper Trading  ·  Random Forest  ·  Gemini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6519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56D76"/>
                </a:solidFill>
                <a:latin typeface="Calibri"/>
              </a:rPr>
              <a:t>GRUPO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719072"/>
            <a:ext cx="6519672" cy="1905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10512"/>
            <a:ext cx="6519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328"/>
                </a:solidFill>
                <a:latin typeface="Calibri"/>
              </a:rPr>
              <a:t>Raphael Malburg   André Neves   Vasco   Beatriz Ferreira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468880"/>
            <a:ext cx="3474720" cy="190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2606040"/>
            <a:ext cx="6519672" cy="11430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743200"/>
            <a:ext cx="6291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F2328"/>
                </a:solidFill>
                <a:latin typeface="Calibri"/>
              </a:rPr>
              <a:t>Engenharia de Software e IA  ·  Março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118104"/>
            <a:ext cx="6291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56D76"/>
                </a:solidFill>
                <a:latin typeface="Calibri"/>
              </a:rPr>
              <a:t>⚠️  Projeto académico · Não é recomendação de investimento · Paper trading apenas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Motivação e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5196" y="914400"/>
            <a:ext cx="3657600" cy="54864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F222E"/>
                </a:solidFill>
                <a:latin typeface="Calibri"/>
              </a:rPr>
              <a:t>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Mercados cripto nunca fecham—monitorização humana contínua é impossível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567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6" y="914400"/>
            <a:ext cx="3657600" cy="54864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567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9A6700"/>
                </a:solidFill>
                <a:latin typeface="Calibri"/>
              </a:rPr>
              <a:t>≤70%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283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dos traders individuais perdem
dinheiro por decisões emocionais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6156" y="914400"/>
            <a:ext cx="3657600" cy="21031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6156" y="914400"/>
            <a:ext cx="3657600" cy="54864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6156" y="1051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7F37"/>
                </a:solidFill>
                <a:latin typeface="Calibri"/>
              </a:rP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316" y="201168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Dados históricos ricos permitem
modelar padrões sem emoção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4436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PERGUNTA DE INVESTIGAÇÃO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00400"/>
            <a:ext cx="11365992" cy="100584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200400"/>
            <a:ext cx="63500" cy="100584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111648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É possível construir um sistema algorítmico que identifique oportunidades em BTC/USD e supere Buy &amp; Hold, usando 17 indicadores técnicos e Machine Learning, com gestão de risco automática e sentimento de mercado como gate?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A vantagem do bot não é ser mais inteligente—é ser consistente e disciplinado.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A Solução — ISLA 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Bot de trading algorítmico para BTC/USD em paper trading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Candles de 1H analisados com 17 indicadores técnicos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Random Forest prevê se o Take-Profit é atingido antes do Stop-Loss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Gate de sentimento via Gemini Flash (OpenRouter) bloqueia entradas bearish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Exit watchdog a cada 10 s: SL (1×ATR), TP (2×ATR), máx. 12 candles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F2328"/>
                </a:solidFill>
                <a:latin typeface="Calibri"/>
              </a:rPr>
              <a:t>▸  Dashboard web em tempo real com gráficos Plotly.js (polling 15 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822960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0" y="822960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896112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097280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Alpaca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435608"/>
            <a:ext cx="4965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Paper trading, sem risco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755648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755648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828800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29968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Python · Flask · Scikit-learn · SQLite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88336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688336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761488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LLM / SENTIMENT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Gemini Flash via OpenRouter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621024"/>
            <a:ext cx="5148072" cy="82296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621024"/>
            <a:ext cx="63500" cy="82296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3694176"/>
            <a:ext cx="4965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ATIVO / TIMEFRAME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95344"/>
            <a:ext cx="4965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328"/>
                </a:solidFill>
                <a:latin typeface="Calibri"/>
              </a:rPr>
              <a:t>BTC/USD  ·  1H candles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Pipeline end-to-end: dados → ML → sentimento → risco → ordem na exchange.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Arquitetura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9552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FONTES DE DADOS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987552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987552"/>
            <a:ext cx="5628132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78992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Alpaca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35024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Candles OHLCV · Ordens · Conta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9340" y="987552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9340" y="987552"/>
            <a:ext cx="5628132" cy="5080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80" y="1078992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OpenRouter / Gemini 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0780" y="1335024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Sentimento de mercado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1596" y="18928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148840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PIPELINE 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src/data.py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Fetch + 17 indicadores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06624" y="2340864"/>
            <a:ext cx="2185416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src/model.py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8064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Random Forest · predict_proba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1768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01768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src/trading.py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Orquestração + Sentimento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340864"/>
            <a:ext cx="2185416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src/strategy.py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Sizing · SL/TP · Circuit Breaker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40864"/>
            <a:ext cx="2185416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340864"/>
            <a:ext cx="218541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83496" y="2432304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src/broker.py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2688336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Alpaca: ordens + posições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1596" y="3246120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502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ORQUESTRAÇÃO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694176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3694176"/>
            <a:ext cx="5628132" cy="508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785616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69DA"/>
                </a:solidFill>
                <a:latin typeface="Calibri"/>
              </a:rPr>
              <a:t>src/app.py (Flask)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041648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bot_loop (1H) · exit_watchdog (10 s) · REST API · Threads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9340" y="3694176"/>
            <a:ext cx="562813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9340" y="3694176"/>
            <a:ext cx="5628132" cy="5080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40780" y="3785616"/>
            <a:ext cx="5490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2328"/>
                </a:solidFill>
                <a:latin typeface="Calibri"/>
              </a:rPr>
              <a:t>SQLite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0780" y="4041648"/>
            <a:ext cx="54909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runs · trades · equity 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1596" y="459943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7DE"/>
                </a:solidFill>
                <a:latin typeface="Calibri"/>
              </a:rPr>
              <a:t>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85546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INTERFACE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047488"/>
            <a:ext cx="11365992" cy="896112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047488"/>
            <a:ext cx="11365992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138928"/>
            <a:ext cx="11228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Dashboard Web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94960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Jinja2 · Plotly.js · Polling 15 s · Kill switch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Dois threads em background: bot_loop (1H) e exit_watchdog (10 s)—o servidor Flask nunca bloqueia.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Modelo de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OBJETIVO DO 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42415"/>
            <a:ext cx="5486400" cy="73152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42415"/>
            <a:ext cx="63500" cy="73152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33855"/>
            <a:ext cx="52852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328"/>
                </a:solidFill>
                <a:latin typeface="Calibri"/>
              </a:rPr>
              <a:t>"O Take-Profit (2×ATR) será atingido antes do Stop-Loss (1×ATR) nos próximos 12 candles?"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ALGORITMO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031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Random Forest · 200 árvores · profundidade máx. 8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StandardScaler em todos os 17 features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Walk-forward validation — TimeSeriesSplit 5 folds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Sem data leakage temporal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Treino: 6.967 amostras  ·  Teste: 1.742 amostras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75887"/>
            <a:ext cx="5486400" cy="64008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675887"/>
            <a:ext cx="63500" cy="64008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67327"/>
            <a:ext cx="5285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Volume (OBV) e volatilidade (ATR, BB) dominam—onde há volume e expansão há movimento.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822960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TOP FEATURES (IMPORTÂNCIA)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42415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097279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097279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097279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Peso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389887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444751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1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OBV (On-Balance Volume)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444751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11.9 %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737359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92223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92223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ATR-14 (volatilidade)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1792223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10.0 %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084831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139695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139695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EMA-20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139695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9.6 %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432303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487167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487167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EMA-50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487167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8.9 %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779775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834639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834639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834639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Calibri"/>
              </a:rPr>
              <a:t>8.6 %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127247"/>
            <a:ext cx="57881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182111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182111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182111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56D76"/>
                </a:solidFill>
                <a:latin typeface="Calibri"/>
              </a:rPr>
              <a:t>7.9 %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474719"/>
            <a:ext cx="57881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529583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529583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BB Width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529583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56D76"/>
                </a:solidFill>
                <a:latin typeface="Calibri"/>
              </a:rPr>
              <a:t>7.8 %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Walk-forward garante que cada previsão usa apenas dados do passado—como numa operação real.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Pipeline de Decisão — A cada candle de 1H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50800" cy="219456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8046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ANÁLISE (PASSOS 1–5)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042415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39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115567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Fetch Market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371599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90 dias · 1H · ~2.160 barras BTC/USD via Alpaca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792223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84247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842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865375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21407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RSI-14, MACD, EMA-20/50, BB, ATR-14, OBV + 11 mais (17 total)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542031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734055"/>
            <a:ext cx="274320" cy="274320"/>
          </a:xfrm>
          <a:prstGeom prst="rect">
            <a:avLst/>
          </a:prstGeom>
          <a:solidFill>
            <a:srgbClr val="DBEDFF"/>
          </a:solidFill>
          <a:ln w="1270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340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969D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615183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ML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71215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P(TP antes SL em 12H) ≥ 55% → LONG · senão → FLAT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91839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83863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838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364991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Drift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621023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Confiança média das últimas 30 runs &lt; 50% → aviso de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41647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233671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23367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14799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Sentiment Gate + Circuit Breaker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70831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Score Gemini ≤ −0.5 bloqueia · perda diária &gt; 10% para trading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804672"/>
            <a:ext cx="50800" cy="219456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80467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EXECUÇÃO (PASSOS 6–8)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042415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234439"/>
            <a:ext cx="274320" cy="274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123443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56D76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1115567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Position Sizing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371599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equity × 5% ÷ stop_pct  ·  stop_pct = 1×ATR / preço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1792223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1984247"/>
            <a:ext cx="274320" cy="274320"/>
          </a:xfrm>
          <a:prstGeom prst="rect">
            <a:avLst/>
          </a:prstGeom>
          <a:solidFill>
            <a:srgbClr val="DFF0E5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9842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F37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865375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Market BUY + Disaster Stop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2121407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Ordem de mercado + stop-limit a 3×ATR (safety net de crash)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542031"/>
            <a:ext cx="5623560" cy="658368"/>
          </a:xfrm>
          <a:prstGeom prst="rect">
            <a:avLst/>
          </a:prstGeom>
          <a:solidFill>
            <a:srgbClr val="F6F8F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2734055"/>
            <a:ext cx="274320" cy="274320"/>
          </a:xfrm>
          <a:prstGeom prst="rect">
            <a:avLst/>
          </a:prstGeom>
          <a:solidFill>
            <a:srgbClr val="DFF0E5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7340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F37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615183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2328"/>
                </a:solidFill>
                <a:latin typeface="Calibri"/>
              </a:rPr>
              <a:t>Exit Watchdog — a cada 10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2871215"/>
            <a:ext cx="5093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SL (1×ATR) · TP (2×ATR) · max 12H · sinal flip → fechar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383279"/>
            <a:ext cx="5623560" cy="64008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383279"/>
            <a:ext cx="63500" cy="64008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474719"/>
            <a:ext cx="54223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Calibri"/>
              </a:rPr>
              <a:t>O watchdog corre a cada 10 s em background e não depende da exchange—elimina ordens órfãs e permite saídas baseadas em qualquer condição.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O bot entra pouco e sai rápido—selectividade é a principal fonte de vantagem.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Gestão de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2296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🟢🔴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SL (1×ATR) e TP (2×ATR)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Rácio risco/retorno de 2:1. Geridos pelo exit watchdog a cada 10 s—não por ordens na exchange. Uma posição vencedora compensa duas perdedoras.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82296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932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Circuit Breaker + Max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07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Bloqueia novos trades se perda diária ultrapassar 10% do capital. Fecha posição automaticamente após 12 candles (12H) mesmo sem SL/TP.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7180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81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Disaster Stop (3×ATR)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962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Stop-limit colocado na Alpaca a 3×ATR abaixo da entrada. Dispara apenas se o servidor cair. Protege contra crash catastrófico sem interferir com saídas normais.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971800"/>
            <a:ext cx="5623560" cy="2011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815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F2328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5387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2328"/>
                </a:solidFill>
                <a:latin typeface="Calibri"/>
              </a:rPr>
              <a:t>Position Sizing (5% fixo)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4962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56D76"/>
                </a:solidFill>
                <a:latin typeface="Calibri"/>
              </a:rPr>
              <a:t>Risco fixo de 5% do capital por trade, ajustado pela volatilidade (ATR). Testámos Kelly Criterion—não melhora com edge negativo por trade.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Duas camadas de proteção: app-side (lógica real) + exchange-side (safety net)—resiliente a falhas.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Métricas do Modelo (holdout 20%)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7F37"/>
                </a:solidFill>
                <a:latin typeface="Calibri"/>
              </a:rPr>
              <a:t>67.9%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previsões corretas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6700"/>
                </a:solidFill>
                <a:latin typeface="Calibri"/>
              </a:rPr>
              <a:t>23.6%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taxa de vitória real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A6700"/>
                </a:solidFill>
                <a:latin typeface="Calibri"/>
              </a:rPr>
              <a:t>10.9%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oportunidades captadas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822960"/>
            <a:ext cx="2697480" cy="102412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91440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F1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09728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56D76"/>
                </a:solidFill>
                <a:latin typeface="Calibri"/>
              </a:rPr>
              <a:t>0.149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572768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P × R balanceados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029968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O QUE SIGNIFICAM ESTES NÚMEROS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258568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Accuracy de 68% deve-se ao modelo acertar a maioria dos FLATs (classe dominante)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Precision de 23.6%: o bot ganha ~1 em cada 4 trades que abre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Break-even para RR 2:1 é 33.3%—estamos abaixo do threshold de lucro por trade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Recall baixo = entradas raras = bot altamente selectivo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029968"/>
            <a:ext cx="5742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DADOS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258568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31343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31343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Value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606040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66090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Amostras treino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66090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6.967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953512"/>
            <a:ext cx="5742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00837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Amostras teste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00837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1.742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300984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35584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35584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648456"/>
            <a:ext cx="5742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7033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Árvores RF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370332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200 · max_depth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995928"/>
            <a:ext cx="574243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05079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Validação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05079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Walk-forward 5 folds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A6700"/>
                </a:solidFill>
                <a:latin typeface="Calibri"/>
              </a:rPr>
              <a:t>💡  Precision abaixo de 33.3% = edge negativo por trade—o ganho vem da selectividade, não da precisão.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Resultados — Backtest Walk-Forward 6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804672"/>
            <a:ext cx="5029200" cy="2743200"/>
          </a:xfrm>
          <a:prstGeom prst="rect">
            <a:avLst/>
          </a:prstGeom>
          <a:solidFill>
            <a:srgbClr val="DFF0E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804672"/>
            <a:ext cx="5029200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9611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OUTPERFORMANCE VS BUY &amp;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15568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7F37"/>
                </a:solidFill>
                <a:latin typeface="Calibri"/>
              </a:rPr>
              <a:t>+10.25%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871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56D76"/>
                </a:solidFill>
                <a:latin typeface="Calibri"/>
              </a:rPr>
              <a:t>estratégia −0.50%  ·  buy &amp; hold −10.74%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07208"/>
            <a:ext cx="2423160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8986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WIN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081528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7F37"/>
                </a:solidFill>
                <a:latin typeface="Calibri"/>
              </a:rPr>
              <a:t>52.2%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40156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12 de 23 trades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807208"/>
            <a:ext cx="2423160" cy="86868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289864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56D76"/>
                </a:solidFill>
                <a:latin typeface="Calibri"/>
              </a:rPr>
              <a:t>TRADES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3081528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328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0156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56D76"/>
                </a:solidFill>
                <a:latin typeface="Calibri"/>
              </a:rPr>
              <a:t>6 meses  ·  1H candles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804672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85953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Métrica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85953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152144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20700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Max Drawdown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207008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222E"/>
                </a:solidFill>
                <a:latin typeface="Calibri"/>
              </a:rPr>
              <a:t>−12.34%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1499616"/>
            <a:ext cx="62453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155448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Profit 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55448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1.05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1847088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190195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Avg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90195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37"/>
                </a:solidFill>
                <a:latin typeface="Calibri"/>
              </a:rPr>
              <a:t>+$1.23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194560"/>
            <a:ext cx="62453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24942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Avg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249424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F222E"/>
                </a:solidFill>
                <a:latin typeface="Calibri"/>
              </a:rPr>
              <a:t>−$1.28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2542032"/>
            <a:ext cx="6245352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59689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Sharpe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596896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6700"/>
                </a:solidFill>
                <a:latin typeface="Calibri"/>
              </a:rPr>
              <a:t>−0.05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743200"/>
            <a:ext cx="6245352" cy="914400"/>
          </a:xfrm>
          <a:prstGeom prst="rect">
            <a:avLst/>
          </a:prstGeom>
          <a:solidFill>
            <a:srgbClr val="FFF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0" y="2743200"/>
            <a:ext cx="63500" cy="914400"/>
          </a:xfrm>
          <a:prstGeom prst="rect">
            <a:avLst/>
          </a:prstGeom>
          <a:solidFill>
            <a:srgbClr val="9A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06440" y="2834640"/>
            <a:ext cx="604418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Período fortemente bearish para BTC (−10.7%). O bot preservou capital ao ficar maioritariamente FLAT—a vantagem vem de não perder, não de ganhar muito.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Em mercado em baixa, não perder já é ganhar—o bot superou o benchmark em +10.25%.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Dashboard Web em Tempo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Preço BTC e sinal do bot actualizados a cada 15 s sem page refresh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Gráfico de velas interactivo com zoom, pan e scroll (estilo TradingView)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Linhas de SL e TP sobrepostas no gráfico com etiquetas de preço ao vivo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RSI-14 e MACD sincronizados com o gráfico principal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Kill switch para fechar todas as posições imediatamente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Secção de backtest: equity curve + log dos 23 trades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328"/>
                </a:solidFill>
                <a:latin typeface="Calibri"/>
              </a:rPr>
              <a:t>▸  Métricas ML + gráfico de feature importance interactivo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822960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POLLING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042415"/>
            <a:ext cx="5193792" cy="40233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1155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alibri"/>
              </a:rPr>
              <a:t>15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133855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preço + posição + linhas SL/TP no gráfico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499615"/>
            <a:ext cx="5193792" cy="402336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72767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969DA"/>
                </a:solidFill>
                <a:latin typeface="Calibri"/>
              </a:rPr>
              <a:t>30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591055"/>
            <a:ext cx="4462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sinal ML + trades + métricas completas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084831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56D76"/>
                </a:solidFill>
                <a:latin typeface="Calibri"/>
              </a:rPr>
              <a:t>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304288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3591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236829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/api/live_stats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688336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7432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75234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/api/dashboard_data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072384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1272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F37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13639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/api/showcase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456432"/>
            <a:ext cx="5193792" cy="329184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11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F222E"/>
                </a:solidFill>
                <a:latin typeface="Calibri"/>
              </a:rP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2" y="35204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/api/kill_switch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913632"/>
            <a:ext cx="5193792" cy="59436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3913632"/>
            <a:ext cx="63500" cy="59436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005072"/>
            <a:ext cx="49926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328"/>
                </a:solidFill>
                <a:latin typeface="Calibri"/>
              </a:rPr>
              <a:t>Sem WebSockets—polling assíncrono com fetch(). Plotly.js actualiza gráficos in-place, preservando o zoom do utilizador.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Uma única página mostra tudo—o dashboard é a cabine de pilotagem do bot.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Metodologia &amp; Equipa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PROCESSO DE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Abordagem iterativa: ciclos semanais de build → test → backtest → refine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Controlo de versões via Git—commits atómicos por feature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Testes de integração com dados reais da Alpaca (paper trading)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Walk-forward backtest como critério de aceitação de cada modelo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F2328"/>
                </a:solidFill>
                <a:latin typeface="Calibri"/>
              </a:rPr>
              <a:t>▸  Deploy contínuo em Railway—dashboard sempre acessível ao grupo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16352"/>
            <a:ext cx="5486400" cy="658368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816352"/>
            <a:ext cx="63500" cy="65836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52852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328"/>
                </a:solidFill>
                <a:latin typeface="Calibri"/>
              </a:rPr>
              <a:t>Nenhuma feature considerada "pronta" sem backtest validar métricas iguais ou superiores à iteração anterior.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822960"/>
            <a:ext cx="5833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CONTRIBUIÇÕES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051560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Raphael Malburg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Arquitetura · Flask API · Dashboard · Deploy Railway · Integração Alpaca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856232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856232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47672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André Neves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21992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Pipeline ML · Feature engineering · Backtesting · Análise de métricas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660904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660904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752344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Vasco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26664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Gestão de risco · Exit watchdog · Análise Kelly Criterion · Position sizing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465576"/>
            <a:ext cx="5833872" cy="713232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3465576"/>
            <a:ext cx="63500" cy="713232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557016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328"/>
                </a:solidFill>
                <a:latin typeface="Calibri"/>
              </a:rPr>
              <a:t>Beatriz Ferreira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31336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56D76"/>
                </a:solidFill>
                <a:latin typeface="Calibri"/>
              </a:rPr>
              <a:t>Integração Gemini/sentimento · Testes integração · Documentação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969DA"/>
                </a:solidFill>
                <a:latin typeface="Calibri"/>
              </a:rPr>
              <a:t>💡  Cada módulo foi desenvolvido e testado de forma independente—falhas identificadas cedo.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328"/>
                </a:solidFill>
                <a:latin typeface="Calibri"/>
              </a:rPr>
              <a:t>Conclusões &amp;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5992" cy="15240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56D76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0D7DE"/>
                </a:solidFill>
                <a:latin typeface="Calibri"/>
              </a:rPr>
              <a:t>ISLA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F37"/>
                </a:solidFill>
                <a:latin typeface="Calibri"/>
              </a:rPr>
              <a:t>O QUE CONSEGUIMOS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42415"/>
            <a:ext cx="3657600" cy="381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+10.25% de outperformance vs Buy &amp; Hold num período bearish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Pipeline completo end-to-end com 8 camadas de decisão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Exit management robusto: watchdog 10 s + disaster stop 3×ATR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Dashboard profissional com actualização em tempo real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Deploy operacional 24/7 em Railway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F222E"/>
                </a:solidFill>
                <a:latin typeface="Calibri"/>
              </a:rPr>
              <a:t>LIMITAÇÕES ACTUAIS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42415"/>
            <a:ext cx="3657600" cy="381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Precision 23.6%—abaixo do break-even de 33.3% (RR 2:1)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Apenas 23 trades em 6 meses—frequência de sinal baixa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Kelly Criterion não aplicável sem edge positivo por trade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Paper trading—slippage real pode ser maior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822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969DA"/>
                </a:solidFill>
                <a:latin typeface="Calibri"/>
              </a:rPr>
              <a:t>PRÓXIMOS PASSOS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042415"/>
            <a:ext cx="3657600" cy="3810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115568"/>
            <a:ext cx="3657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Substituir RF por XGBoost / LightGBM—melhor para séries temporais financeiras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Aumentar threshold de confiança para ≥ 65%—menos trades, precision maior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Adicionar funding rates e open interest como features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Trailing stop para proteger lucros em tendências prolongadas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1F2328"/>
                </a:solidFill>
                <a:latin typeface="Calibri"/>
              </a:rPr>
              <a:t>▸  Alertas em tempo real via Telegram / Discord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37560"/>
            <a:ext cx="11365992" cy="731520"/>
          </a:xfrm>
          <a:prstGeom prst="rect">
            <a:avLst/>
          </a:prstGeom>
          <a:solidFill>
            <a:srgbClr val="D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37560"/>
            <a:ext cx="63500" cy="731520"/>
          </a:xfrm>
          <a:prstGeom prst="rect">
            <a:avLst/>
          </a:prstGeom>
          <a:solidFill>
            <a:srgbClr val="096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11648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2328"/>
                </a:solidFill>
                <a:latin typeface="Calibri"/>
              </a:rPr>
              <a:t>O bot demonstra que selectividade inteligente—ficar FLAT na maioria das barras—pode superar Buy &amp; Hold em mercados em baixa. O valor está na ausência de maus trades, não na qualidade de cada trade individual.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D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3175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45566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Calibri"/>
              </a:rPr>
              <a:t>💡  Um passo de cada vez: primeiro precision &gt; 33%, depois Kelly, depois capital real.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A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ISLA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14600"/>
            <a:ext cx="3383280" cy="25400"/>
          </a:xfrm>
          <a:prstGeom prst="rect">
            <a:avLst/>
          </a:prstGeom>
          <a:solidFill>
            <a:srgbClr val="7FD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633472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3101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E8C3"/>
                </a:solidFill>
                <a:latin typeface="Calibri"/>
              </a:rPr>
              <a:t>Questões &amp; Discussão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51129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26187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F37"/>
                </a:solidFill>
                <a:latin typeface="Calibri"/>
              </a:rPr>
              <a:t>+10.25%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79222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Outperformance vs B&amp;H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3336" y="118872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03336" y="1188720"/>
            <a:ext cx="3511296" cy="508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26187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F222E"/>
                </a:solidFill>
                <a:latin typeface="Calibri"/>
              </a:rPr>
              <a:t>−0.50%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79222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Retorno do bot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24028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240280"/>
            <a:ext cx="3511296" cy="50800"/>
          </a:xfrm>
          <a:prstGeom prst="rect">
            <a:avLst/>
          </a:prstGeom>
          <a:solidFill>
            <a:srgbClr val="CF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31343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F222E"/>
                </a:solidFill>
                <a:latin typeface="Calibri"/>
              </a:rPr>
              <a:t>−10.74%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84378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Buy &amp; Hold BTC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2240280"/>
            <a:ext cx="3511296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2240280"/>
            <a:ext cx="3511296" cy="50800"/>
          </a:xfrm>
          <a:prstGeom prst="rect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313432"/>
            <a:ext cx="351129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7F37"/>
                </a:solidFill>
                <a:latin typeface="Calibri"/>
              </a:rPr>
              <a:t>52.2%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843784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Win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7159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F2328"/>
                </a:solidFill>
                <a:latin typeface="Calibri"/>
              </a:rPr>
              <a:t>Raphael Malburg  ·  André Neves  ·  Vasco  ·  Beatriz Ferreira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66160"/>
            <a:ext cx="7159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56D76"/>
                </a:solidFill>
                <a:latin typeface="Calibri"/>
              </a:rPr>
              <a:t>Engenharia de Software e IA  ·  Março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886200"/>
            <a:ext cx="7159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56D76"/>
                </a:solidFill>
                <a:latin typeface="Calibri"/>
              </a:rPr>
              <a:t>⚠️  Projeto académico · Não é recomendação de investimento · Paper trading apenas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D89F"/>
                </a:solidFill>
                <a:latin typeface="Calibri"/>
              </a:rPr>
              <a:t>ISLA Bot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